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02920" cy="6784848"/>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 y="1097280"/>
            <a:ext cx="91440" cy="914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37160" y="2194560"/>
            <a:ext cx="91440" cy="914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37160" y="3291840"/>
            <a:ext cx="91440" cy="914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7160" y="4389120"/>
            <a:ext cx="91440" cy="914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20040" y="1645920"/>
            <a:ext cx="91440" cy="914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20040" y="2743200"/>
            <a:ext cx="91440" cy="914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20040" y="3840480"/>
            <a:ext cx="91440" cy="914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20040" y="4937760"/>
            <a:ext cx="91440" cy="914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164592"/>
            <a:ext cx="4114800" cy="365760"/>
          </a:xfrm>
          <a:prstGeom prst="rect">
            <a:avLst/>
          </a:prstGeom>
          <a:noFill/>
        </p:spPr>
        <p:txBody>
          <a:bodyPr wrap="square">
            <a:spAutoFit/>
          </a:bodyPr>
          <a:lstStyle/>
          <a:p>
            <a:pPr algn="r"/>
            <a:r>
              <a:rPr sz="1200" b="0" i="0">
                <a:solidFill>
                  <a:srgbClr val="CCD6E8"/>
                </a:solidFill>
              </a:rPr>
              <a:t>TuringCollective  ·  HCCS</a:t>
            </a:r>
          </a:p>
        </p:txBody>
      </p:sp>
      <p:sp>
        <p:nvSpPr>
          <p:cNvPr id="13" name="Rectangle 12"/>
          <p:cNvSpPr/>
          <p:nvPr/>
        </p:nvSpPr>
        <p:spPr>
          <a:xfrm>
            <a:off x="731520" y="1280160"/>
            <a:ext cx="10332720" cy="2286000"/>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1280160"/>
            <a:ext cx="109728" cy="2286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1417320"/>
            <a:ext cx="9875520" cy="1828800"/>
          </a:xfrm>
          <a:prstGeom prst="rect">
            <a:avLst/>
          </a:prstGeom>
          <a:noFill/>
        </p:spPr>
        <p:txBody>
          <a:bodyPr wrap="square">
            <a:spAutoFit/>
          </a:bodyPr>
          <a:lstStyle/>
          <a:p>
            <a:pPr algn="l"/>
            <a:r>
              <a:rPr sz="4600" b="1">
                <a:solidFill>
                  <a:srgbClr val="00B4D8"/>
                </a:solidFill>
              </a:rPr>
              <a:t>Fact or Fiction:</a:t>
            </a:r>
          </a:p>
          <a:p>
            <a:pPr algn="l"/>
            <a:r>
              <a:rPr sz="3800" b="1">
                <a:solidFill>
                  <a:srgbClr val="FFFFFF"/>
                </a:solidFill>
              </a:rPr>
              <a:t>Understanding GANs Through Story</a:t>
            </a:r>
          </a:p>
        </p:txBody>
      </p:sp>
      <p:sp>
        <p:nvSpPr>
          <p:cNvPr id="16" name="Rectangle 15"/>
          <p:cNvSpPr/>
          <p:nvPr/>
        </p:nvSpPr>
        <p:spPr>
          <a:xfrm>
            <a:off x="731520" y="3794760"/>
            <a:ext cx="10332720" cy="137160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886200"/>
            <a:ext cx="9875520" cy="1188720"/>
          </a:xfrm>
          <a:prstGeom prst="rect">
            <a:avLst/>
          </a:prstGeom>
          <a:noFill/>
        </p:spPr>
        <p:txBody>
          <a:bodyPr wrap="square">
            <a:spAutoFit/>
          </a:bodyPr>
          <a:lstStyle/>
          <a:p>
            <a:pPr algn="l"/>
            <a:r>
              <a:rPr sz="1500" b="1">
                <a:solidFill>
                  <a:srgbClr val="E9C46A"/>
                </a:solidFill>
              </a:rPr>
              <a:t>Student: </a:t>
            </a:r>
            <a:r>
              <a:rPr sz="1500">
                <a:solidFill>
                  <a:srgbClr val="FFFFFF"/>
                </a:solidFill>
              </a:rPr>
              <a:t>Joseph Clay</a:t>
            </a:r>
          </a:p>
          <a:p>
            <a:pPr algn="l"/>
            <a:r>
              <a:rPr sz="1500" b="1">
                <a:solidFill>
                  <a:srgbClr val="E9C46A"/>
                </a:solidFill>
              </a:rPr>
              <a:t>Team: </a:t>
            </a:r>
            <a:r>
              <a:rPr sz="1500">
                <a:solidFill>
                  <a:srgbClr val="FFFFFF"/>
                </a:solidFill>
              </a:rPr>
              <a:t>TuringCollective</a:t>
            </a:r>
          </a:p>
          <a:p>
            <a:pPr algn="l"/>
            <a:r>
              <a:rPr sz="1500" b="1">
                <a:solidFill>
                  <a:srgbClr val="E9C46A"/>
                </a:solidFill>
              </a:rPr>
              <a:t>Course: </a:t>
            </a:r>
            <a:r>
              <a:rPr sz="1500">
                <a:solidFill>
                  <a:srgbClr val="FFFFFF"/>
                </a:solidFill>
              </a:rPr>
              <a:t>ITAI-1370  ·  AI History &amp; Fundamentals</a:t>
            </a:r>
          </a:p>
          <a:p>
            <a:pPr algn="l"/>
            <a:r>
              <a:rPr sz="1500" b="1">
                <a:solidFill>
                  <a:srgbClr val="E9C46A"/>
                </a:solidFill>
              </a:rPr>
              <a:t>Date: </a:t>
            </a:r>
            <a:r>
              <a:rPr sz="1500">
                <a:solidFill>
                  <a:srgbClr val="FFFFFF"/>
                </a:solidFill>
              </a:rPr>
              <a:t>July 19, 2026</a:t>
            </a:r>
          </a:p>
        </p:txBody>
      </p:sp>
      <p:sp>
        <p:nvSpPr>
          <p:cNvPr id="18" name="Rectangle 17"/>
          <p:cNvSpPr/>
          <p:nvPr/>
        </p:nvSpPr>
        <p:spPr>
          <a:xfrm>
            <a:off x="0" y="6720840"/>
            <a:ext cx="12188952" cy="13716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446520"/>
            <a:ext cx="5486400" cy="274320"/>
          </a:xfrm>
          <a:prstGeom prst="rect">
            <a:avLst/>
          </a:prstGeom>
          <a:noFill/>
        </p:spPr>
        <p:txBody>
          <a:bodyPr wrap="square">
            <a:spAutoFit/>
          </a:bodyPr>
          <a:lstStyle/>
          <a:p>
            <a:pPr algn="l"/>
            <a:r>
              <a:rPr sz="1100" b="0" i="0">
                <a:solidFill>
                  <a:srgbClr val="CCD6E8"/>
                </a:solidFill>
              </a:rPr>
              <a:t>L08  ·  Fact or Fiction Activity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02920" cy="6784848"/>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3657600" cy="320040"/>
          </a:xfrm>
          <a:prstGeom prst="rect">
            <a:avLst/>
          </a:prstGeom>
          <a:noFill/>
        </p:spPr>
        <p:txBody>
          <a:bodyPr wrap="square">
            <a:spAutoFit/>
          </a:bodyPr>
          <a:lstStyle/>
          <a:p>
            <a:pPr algn="l"/>
            <a:r>
              <a:rPr sz="1100" b="1" i="0">
                <a:solidFill>
                  <a:srgbClr val="00B4D8"/>
                </a:solidFill>
              </a:rPr>
              <a:t>INTRODUCTION</a:t>
            </a:r>
          </a:p>
        </p:txBody>
      </p:sp>
      <p:sp>
        <p:nvSpPr>
          <p:cNvPr id="5" name="TextBox 4"/>
          <p:cNvSpPr txBox="1"/>
          <p:nvPr/>
        </p:nvSpPr>
        <p:spPr>
          <a:xfrm>
            <a:off x="640080" y="502920"/>
            <a:ext cx="8229600" cy="640080"/>
          </a:xfrm>
          <a:prstGeom prst="rect">
            <a:avLst/>
          </a:prstGeom>
          <a:noFill/>
        </p:spPr>
        <p:txBody>
          <a:bodyPr wrap="square">
            <a:spAutoFit/>
          </a:bodyPr>
          <a:lstStyle/>
          <a:p>
            <a:pPr algn="l"/>
            <a:r>
              <a:rPr sz="3600" b="1" i="0">
                <a:solidFill>
                  <a:srgbClr val="FFFFFF"/>
                </a:solidFill>
              </a:rPr>
              <a:t>What Are GANs?</a:t>
            </a:r>
          </a:p>
        </p:txBody>
      </p:sp>
      <p:sp>
        <p:nvSpPr>
          <p:cNvPr id="6" name="Rectangle 5"/>
          <p:cNvSpPr/>
          <p:nvPr/>
        </p:nvSpPr>
        <p:spPr>
          <a:xfrm>
            <a:off x="640080" y="1143000"/>
            <a:ext cx="5029200" cy="3200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46720" y="502920"/>
            <a:ext cx="3840480" cy="2468880"/>
          </a:xfrm>
          <a:prstGeom prst="rect">
            <a:avLst/>
          </a:prstGeom>
          <a:solidFill>
            <a:srgbClr val="103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046720" y="502920"/>
            <a:ext cx="91440" cy="2468880"/>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594360"/>
            <a:ext cx="3520440" cy="2286000"/>
          </a:xfrm>
          <a:prstGeom prst="rect">
            <a:avLst/>
          </a:prstGeom>
          <a:noFill/>
        </p:spPr>
        <p:txBody>
          <a:bodyPr wrap="square">
            <a:spAutoFit/>
          </a:bodyPr>
          <a:lstStyle/>
          <a:p>
            <a:pPr algn="l"/>
            <a:r>
              <a:rPr sz="1400" b="1">
                <a:solidFill>
                  <a:srgbClr val="E9C46A"/>
                </a:solidFill>
              </a:rPr>
              <a:t>🎯  Activity Objective</a:t>
            </a:r>
          </a:p>
          <a:p>
            <a:pPr algn="l">
              <a:spcBef>
                <a:spcPts val="400"/>
              </a:spcBef>
            </a:pPr>
            <a:r>
              <a:rPr sz="1300" b="0" i="0">
                <a:solidFill>
                  <a:srgbClr val="CCD6E8"/>
                </a:solidFill>
              </a:rPr>
              <a:t>Use storytelling to experience</a:t>
            </a:r>
          </a:p>
          <a:p>
            <a:pPr algn="l">
              <a:spcBef>
                <a:spcPts val="400"/>
              </a:spcBef>
            </a:pPr>
            <a:r>
              <a:rPr sz="1300" b="0" i="0">
                <a:solidFill>
                  <a:srgbClr val="CCD6E8"/>
                </a:solidFill>
              </a:rPr>
              <a:t>how a GAN Discriminator works —</a:t>
            </a:r>
          </a:p>
          <a:p>
            <a:pPr algn="l">
              <a:spcBef>
                <a:spcPts val="400"/>
              </a:spcBef>
            </a:pPr>
            <a:r>
              <a:rPr sz="1300" b="0" i="0">
                <a:solidFill>
                  <a:srgbClr val="CCD6E8"/>
                </a:solidFill>
              </a:rPr>
              <a:t>by trying to tell real from fake.</a:t>
            </a:r>
          </a:p>
        </p:txBody>
      </p:sp>
      <p:sp>
        <p:nvSpPr>
          <p:cNvPr id="10" name="TextBox 9"/>
          <p:cNvSpPr txBox="1"/>
          <p:nvPr/>
        </p:nvSpPr>
        <p:spPr>
          <a:xfrm>
            <a:off x="685800" y="1280160"/>
            <a:ext cx="6949440" cy="1097280"/>
          </a:xfrm>
          <a:prstGeom prst="rect">
            <a:avLst/>
          </a:prstGeom>
          <a:noFill/>
        </p:spPr>
        <p:txBody>
          <a:bodyPr wrap="square">
            <a:spAutoFit/>
          </a:bodyPr>
          <a:lstStyle/>
          <a:p>
            <a:r>
              <a:rPr sz="1500">
                <a:solidFill>
                  <a:srgbClr val="CCD6E8"/>
                </a:solidFill>
              </a:rPr>
              <a:t>A Generative Adversarial Network (GAN) is a machine learning framework where two neural networks compete: one creates, and one judges.</a:t>
            </a:r>
          </a:p>
        </p:txBody>
      </p:sp>
      <p:sp>
        <p:nvSpPr>
          <p:cNvPr id="11" name="Rectangle 10"/>
          <p:cNvSpPr/>
          <p:nvPr/>
        </p:nvSpPr>
        <p:spPr>
          <a:xfrm>
            <a:off x="685800" y="2468880"/>
            <a:ext cx="5120640" cy="2926080"/>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2468880"/>
            <a:ext cx="109728" cy="292608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578608"/>
            <a:ext cx="4754880" cy="2743200"/>
          </a:xfrm>
          <a:prstGeom prst="rect">
            <a:avLst/>
          </a:prstGeom>
          <a:noFill/>
        </p:spPr>
        <p:txBody>
          <a:bodyPr wrap="square">
            <a:spAutoFit/>
          </a:bodyPr>
          <a:lstStyle/>
          <a:p>
            <a:r>
              <a:rPr sz="2000" b="1">
                <a:solidFill>
                  <a:srgbClr val="2A9D8F"/>
                </a:solidFill>
              </a:rPr>
              <a:t>⚙️  Generator</a:t>
            </a:r>
          </a:p>
          <a:p>
            <a:pPr algn="l">
              <a:spcBef>
                <a:spcPts val="500"/>
              </a:spcBef>
            </a:pPr>
            <a:r>
              <a:rPr sz="1300" b="0" i="0">
                <a:solidFill>
                  <a:srgbClr val="CCD6E8"/>
                </a:solidFill>
              </a:rPr>
              <a:t>▸  Creates synthetic (fake) data</a:t>
            </a:r>
          </a:p>
          <a:p>
            <a:pPr algn="l">
              <a:spcBef>
                <a:spcPts val="500"/>
              </a:spcBef>
            </a:pPr>
            <a:r>
              <a:rPr sz="1300" b="0" i="0">
                <a:solidFill>
                  <a:srgbClr val="CCD6E8"/>
                </a:solidFill>
              </a:rPr>
              <a:t>▸  Learns to mimic real data distributions</a:t>
            </a:r>
          </a:p>
          <a:p>
            <a:pPr algn="l">
              <a:spcBef>
                <a:spcPts val="500"/>
              </a:spcBef>
            </a:pPr>
            <a:r>
              <a:rPr sz="1300" b="0" i="0">
                <a:solidFill>
                  <a:srgbClr val="CCD6E8"/>
                </a:solidFill>
              </a:rPr>
              <a:t>▸  Goal: fool the Discriminator</a:t>
            </a:r>
          </a:p>
          <a:p>
            <a:pPr algn="l">
              <a:spcBef>
                <a:spcPts val="500"/>
              </a:spcBef>
            </a:pPr>
            <a:r>
              <a:rPr sz="1300" b="0" i="0">
                <a:solidFill>
                  <a:srgbClr val="CCD6E8"/>
                </a:solidFill>
              </a:rPr>
              <a:t>▸  Analogy: A forger creating fake paintings</a:t>
            </a:r>
          </a:p>
          <a:p>
            <a:pPr algn="l">
              <a:spcBef>
                <a:spcPts val="500"/>
              </a:spcBef>
            </a:pPr>
            <a:r>
              <a:rPr sz="1300" b="0" i="0">
                <a:solidFill>
                  <a:srgbClr val="CCD6E8"/>
                </a:solidFill>
              </a:rPr>
              <a:t>▸  Improves with every failed attempt</a:t>
            </a:r>
          </a:p>
        </p:txBody>
      </p:sp>
      <p:sp>
        <p:nvSpPr>
          <p:cNvPr id="14" name="Rectangle 13"/>
          <p:cNvSpPr/>
          <p:nvPr/>
        </p:nvSpPr>
        <p:spPr>
          <a:xfrm>
            <a:off x="5989320" y="2468880"/>
            <a:ext cx="5943600" cy="2926080"/>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89320" y="2468880"/>
            <a:ext cx="109728" cy="292608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2578608"/>
            <a:ext cx="5577840" cy="2743200"/>
          </a:xfrm>
          <a:prstGeom prst="rect">
            <a:avLst/>
          </a:prstGeom>
          <a:noFill/>
        </p:spPr>
        <p:txBody>
          <a:bodyPr wrap="square">
            <a:spAutoFit/>
          </a:bodyPr>
          <a:lstStyle/>
          <a:p>
            <a:r>
              <a:rPr sz="2000" b="1">
                <a:solidFill>
                  <a:srgbClr val="E76F51"/>
                </a:solidFill>
              </a:rPr>
              <a:t>🔍  Discriminator</a:t>
            </a:r>
          </a:p>
          <a:p>
            <a:pPr algn="l">
              <a:spcBef>
                <a:spcPts val="500"/>
              </a:spcBef>
            </a:pPr>
            <a:r>
              <a:rPr sz="1300" b="0" i="0">
                <a:solidFill>
                  <a:srgbClr val="CCD6E8"/>
                </a:solidFill>
              </a:rPr>
              <a:t>▸  Evaluates data as real or fake</a:t>
            </a:r>
          </a:p>
          <a:p>
            <a:pPr algn="l">
              <a:spcBef>
                <a:spcPts val="500"/>
              </a:spcBef>
            </a:pPr>
            <a:r>
              <a:rPr sz="1300" b="0" i="0">
                <a:solidFill>
                  <a:srgbClr val="CCD6E8"/>
                </a:solidFill>
              </a:rPr>
              <a:t>▸  Trained on labeled real &amp; fake examples</a:t>
            </a:r>
          </a:p>
          <a:p>
            <a:pPr algn="l">
              <a:spcBef>
                <a:spcPts val="500"/>
              </a:spcBef>
            </a:pPr>
            <a:r>
              <a:rPr sz="1300" b="0" i="0">
                <a:solidFill>
                  <a:srgbClr val="CCD6E8"/>
                </a:solidFill>
              </a:rPr>
              <a:t>▸  Goal: catch the Generator</a:t>
            </a:r>
          </a:p>
          <a:p>
            <a:pPr algn="l">
              <a:spcBef>
                <a:spcPts val="500"/>
              </a:spcBef>
            </a:pPr>
            <a:r>
              <a:rPr sz="1300" b="0" i="0">
                <a:solidFill>
                  <a:srgbClr val="CCD6E8"/>
                </a:solidFill>
              </a:rPr>
              <a:t>▸  Analogy: An art authenticator</a:t>
            </a:r>
          </a:p>
          <a:p>
            <a:pPr algn="l">
              <a:spcBef>
                <a:spcPts val="500"/>
              </a:spcBef>
            </a:pPr>
            <a:r>
              <a:rPr sz="1300" b="0" i="0">
                <a:solidFill>
                  <a:srgbClr val="CCD6E8"/>
                </a:solidFill>
              </a:rPr>
              <a:t>▸  Improves by catching more fakes</a:t>
            </a:r>
          </a:p>
        </p:txBody>
      </p:sp>
      <p:sp>
        <p:nvSpPr>
          <p:cNvPr id="17" name="Rectangle 16"/>
          <p:cNvSpPr/>
          <p:nvPr/>
        </p:nvSpPr>
        <p:spPr>
          <a:xfrm>
            <a:off x="5577840" y="3474720"/>
            <a:ext cx="411480" cy="548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77840" y="3520440"/>
            <a:ext cx="411480" cy="457200"/>
          </a:xfrm>
          <a:prstGeom prst="rect">
            <a:avLst/>
          </a:prstGeom>
          <a:noFill/>
        </p:spPr>
        <p:txBody>
          <a:bodyPr wrap="square">
            <a:spAutoFit/>
          </a:bodyPr>
          <a:lstStyle/>
          <a:p>
            <a:pPr algn="ctr"/>
            <a:r>
              <a:rPr sz="1400" b="1" i="0">
                <a:solidFill>
                  <a:srgbClr val="1A1A2E"/>
                </a:solidFill>
              </a:rPr>
              <a:t>VS</a:t>
            </a:r>
          </a:p>
        </p:txBody>
      </p:sp>
      <p:sp>
        <p:nvSpPr>
          <p:cNvPr id="19" name="Rectangle 18"/>
          <p:cNvSpPr/>
          <p:nvPr/>
        </p:nvSpPr>
        <p:spPr>
          <a:xfrm>
            <a:off x="0" y="6720840"/>
            <a:ext cx="12188952" cy="13716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5486400" cy="256032"/>
          </a:xfrm>
          <a:prstGeom prst="rect">
            <a:avLst/>
          </a:prstGeom>
          <a:noFill/>
        </p:spPr>
        <p:txBody>
          <a:bodyPr wrap="square">
            <a:spAutoFit/>
          </a:bodyPr>
          <a:lstStyle/>
          <a:p>
            <a:pPr algn="l"/>
            <a:r>
              <a:rPr sz="1000" b="0" i="0">
                <a:solidFill>
                  <a:srgbClr val="CCD6E8"/>
                </a:solidFill>
              </a:rPr>
              <a:t>L08  ·  Fact or Fiction  ·  ITAI-1370</a:t>
            </a:r>
          </a:p>
        </p:txBody>
      </p:sp>
      <p:sp>
        <p:nvSpPr>
          <p:cNvPr id="21" name="TextBox 20"/>
          <p:cNvSpPr txBox="1"/>
          <p:nvPr/>
        </p:nvSpPr>
        <p:spPr>
          <a:xfrm>
            <a:off x="10972800" y="6473952"/>
            <a:ext cx="1097280" cy="256032"/>
          </a:xfrm>
          <a:prstGeom prst="rect">
            <a:avLst/>
          </a:prstGeom>
          <a:noFill/>
        </p:spPr>
        <p:txBody>
          <a:bodyPr wrap="square">
            <a:spAutoFit/>
          </a:bodyPr>
          <a:lstStyle/>
          <a:p>
            <a:pPr algn="r"/>
            <a:r>
              <a:rPr sz="1000" b="0" i="0">
                <a:solidFill>
                  <a:srgbClr val="CCD6E8"/>
                </a:solidFill>
              </a:rP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02920" cy="6784848"/>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3657600" cy="320040"/>
          </a:xfrm>
          <a:prstGeom prst="rect">
            <a:avLst/>
          </a:prstGeom>
          <a:noFill/>
        </p:spPr>
        <p:txBody>
          <a:bodyPr wrap="square">
            <a:spAutoFit/>
          </a:bodyPr>
          <a:lstStyle/>
          <a:p>
            <a:pPr algn="l"/>
            <a:r>
              <a:rPr sz="1100" b="1" i="0">
                <a:solidFill>
                  <a:srgbClr val="00B4D8"/>
                </a:solidFill>
              </a:rPr>
              <a:t>METHODOLOGY</a:t>
            </a:r>
          </a:p>
        </p:txBody>
      </p:sp>
      <p:sp>
        <p:nvSpPr>
          <p:cNvPr id="5" name="TextBox 4"/>
          <p:cNvSpPr txBox="1"/>
          <p:nvPr/>
        </p:nvSpPr>
        <p:spPr>
          <a:xfrm>
            <a:off x="640080" y="502920"/>
            <a:ext cx="8229600" cy="594360"/>
          </a:xfrm>
          <a:prstGeom prst="rect">
            <a:avLst/>
          </a:prstGeom>
          <a:noFill/>
        </p:spPr>
        <p:txBody>
          <a:bodyPr wrap="square">
            <a:spAutoFit/>
          </a:bodyPr>
          <a:lstStyle/>
          <a:p>
            <a:pPr algn="l"/>
            <a:r>
              <a:rPr sz="3600" b="1" i="0">
                <a:solidFill>
                  <a:srgbClr val="FFFFFF"/>
                </a:solidFill>
              </a:rPr>
              <a:t>How the Activity Works</a:t>
            </a:r>
          </a:p>
        </p:txBody>
      </p:sp>
      <p:sp>
        <p:nvSpPr>
          <p:cNvPr id="6" name="Rectangle 5"/>
          <p:cNvSpPr/>
          <p:nvPr/>
        </p:nvSpPr>
        <p:spPr>
          <a:xfrm>
            <a:off x="640080" y="1097280"/>
            <a:ext cx="6400800" cy="3200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88720"/>
            <a:ext cx="11155680" cy="502920"/>
          </a:xfrm>
          <a:prstGeom prst="rect">
            <a:avLst/>
          </a:prstGeom>
          <a:noFill/>
        </p:spPr>
        <p:txBody>
          <a:bodyPr wrap="square">
            <a:spAutoFit/>
          </a:bodyPr>
          <a:lstStyle/>
          <a:p>
            <a:pPr algn="l"/>
            <a:r>
              <a:rPr sz="1400" b="0" i="0">
                <a:solidFill>
                  <a:srgbClr val="CCD6E8"/>
                </a:solidFill>
              </a:rPr>
              <a:t>Two structured phases mirror the GAN training loop — Generator phase (writing) → Discriminator phase (judging).</a:t>
            </a:r>
          </a:p>
        </p:txBody>
      </p:sp>
      <p:sp>
        <p:nvSpPr>
          <p:cNvPr id="8" name="Rectangle 7"/>
          <p:cNvSpPr/>
          <p:nvPr/>
        </p:nvSpPr>
        <p:spPr>
          <a:xfrm>
            <a:off x="685800" y="1828800"/>
            <a:ext cx="5257800" cy="4206240"/>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828800"/>
            <a:ext cx="109728" cy="420624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5528" y="1920240"/>
            <a:ext cx="914400" cy="41148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1920240"/>
            <a:ext cx="914400" cy="411480"/>
          </a:xfrm>
          <a:prstGeom prst="rect">
            <a:avLst/>
          </a:prstGeom>
          <a:noFill/>
        </p:spPr>
        <p:txBody>
          <a:bodyPr wrap="square">
            <a:spAutoFit/>
          </a:bodyPr>
          <a:lstStyle/>
          <a:p>
            <a:pPr algn="ctr"/>
            <a:r>
              <a:rPr sz="1100" b="1" i="0">
                <a:solidFill>
                  <a:srgbClr val="1A1A2E"/>
                </a:solidFill>
              </a:rPr>
              <a:t>STEP  1</a:t>
            </a:r>
          </a:p>
        </p:txBody>
      </p:sp>
      <p:sp>
        <p:nvSpPr>
          <p:cNvPr id="12" name="TextBox 11"/>
          <p:cNvSpPr txBox="1"/>
          <p:nvPr/>
        </p:nvSpPr>
        <p:spPr>
          <a:xfrm>
            <a:off x="914400" y="2423160"/>
            <a:ext cx="4846320" cy="3474720"/>
          </a:xfrm>
          <a:prstGeom prst="rect">
            <a:avLst/>
          </a:prstGeom>
          <a:noFill/>
        </p:spPr>
        <p:txBody>
          <a:bodyPr wrap="square">
            <a:spAutoFit/>
          </a:bodyPr>
          <a:lstStyle/>
          <a:p>
            <a:r>
              <a:rPr sz="2200" b="1">
                <a:solidFill>
                  <a:srgbClr val="2A9D8F"/>
                </a:solidFill>
              </a:rPr>
              <a:t>Story Creation</a:t>
            </a:r>
          </a:p>
          <a:p>
            <a:pPr algn="l">
              <a:spcBef>
                <a:spcPts val="800"/>
              </a:spcBef>
            </a:pPr>
            <a:r>
              <a:rPr sz="1300" b="0" i="0">
                <a:solidFill>
                  <a:srgbClr val="CCD6E8"/>
                </a:solidFill>
              </a:rPr>
              <a:t>Role: Every team member is a Generator</a:t>
            </a:r>
          </a:p>
          <a:p>
            <a:pPr>
              <a:spcBef>
                <a:spcPts val="700"/>
              </a:spcBef>
            </a:pPr>
            <a:r>
              <a:rPr sz="1300" b="1">
                <a:solidFill>
                  <a:srgbClr val="FFFFFF"/>
                </a:solidFill>
              </a:rPr>
              <a:t>▸  Half the team writes TRUE stories</a:t>
            </a:r>
          </a:p>
          <a:p>
            <a:pPr>
              <a:spcBef>
                <a:spcPts val="200"/>
              </a:spcBef>
            </a:pPr>
            <a:r>
              <a:rPr sz="1100" i="1">
                <a:solidFill>
                  <a:srgbClr val="CCD6E8"/>
                </a:solidFill>
              </a:rPr>
              <a:t>     Personal or real AI experiences — authentic, grounded in fact</a:t>
            </a:r>
          </a:p>
          <a:p>
            <a:pPr>
              <a:spcBef>
                <a:spcPts val="700"/>
              </a:spcBef>
            </a:pPr>
            <a:r>
              <a:rPr sz="1300" b="1">
                <a:solidFill>
                  <a:srgbClr val="FFFFFF"/>
                </a:solidFill>
              </a:rPr>
              <a:t>▸  Half the team writes FICTIONAL stories</a:t>
            </a:r>
          </a:p>
          <a:p>
            <a:pPr>
              <a:spcBef>
                <a:spcPts val="200"/>
              </a:spcBef>
            </a:pPr>
            <a:r>
              <a:rPr sz="1100" i="1">
                <a:solidFill>
                  <a:srgbClr val="CCD6E8"/>
                </a:solidFill>
              </a:rPr>
              <a:t>     Invented AI scenarios — plausible but fabricated</a:t>
            </a:r>
          </a:p>
          <a:p>
            <a:pPr>
              <a:spcBef>
                <a:spcPts val="700"/>
              </a:spcBef>
            </a:pPr>
            <a:r>
              <a:rPr sz="1300" b="1">
                <a:solidFill>
                  <a:srgbClr val="FFFFFF"/>
                </a:solidFill>
              </a:rPr>
              <a:t>▸  No labels — stories are written anonymously</a:t>
            </a:r>
          </a:p>
          <a:p>
            <a:pPr>
              <a:spcBef>
                <a:spcPts val="200"/>
              </a:spcBef>
            </a:pPr>
            <a:r>
              <a:rPr sz="1100" i="1">
                <a:solidFill>
                  <a:srgbClr val="CCD6E8"/>
                </a:solidFill>
              </a:rPr>
              <a:t>     Fact or fiction is NOT disclosed to the group</a:t>
            </a:r>
          </a:p>
          <a:p>
            <a:pPr>
              <a:spcBef>
                <a:spcPts val="700"/>
              </a:spcBef>
            </a:pPr>
            <a:r>
              <a:rPr sz="1300" b="1">
                <a:solidFill>
                  <a:srgbClr val="FFFFFF"/>
                </a:solidFill>
              </a:rPr>
              <a:t>▸  Quality matters</a:t>
            </a:r>
          </a:p>
          <a:p>
            <a:pPr>
              <a:spcBef>
                <a:spcPts val="200"/>
              </a:spcBef>
            </a:pPr>
            <a:r>
              <a:rPr sz="1100" i="1">
                <a:solidFill>
                  <a:srgbClr val="CCD6E8"/>
                </a:solidFill>
              </a:rPr>
              <a:t>     Both sides try to write convincingly believable narratives</a:t>
            </a:r>
          </a:p>
        </p:txBody>
      </p:sp>
      <p:sp>
        <p:nvSpPr>
          <p:cNvPr id="13" name="TextBox 12"/>
          <p:cNvSpPr txBox="1"/>
          <p:nvPr/>
        </p:nvSpPr>
        <p:spPr>
          <a:xfrm>
            <a:off x="6035040" y="3657600"/>
            <a:ext cx="594360" cy="548640"/>
          </a:xfrm>
          <a:prstGeom prst="rect">
            <a:avLst/>
          </a:prstGeom>
          <a:noFill/>
        </p:spPr>
        <p:txBody>
          <a:bodyPr wrap="none">
            <a:spAutoFit/>
          </a:bodyPr>
          <a:lstStyle/>
          <a:p>
            <a:pPr algn="ctr"/>
            <a:r>
              <a:rPr sz="3200">
                <a:solidFill>
                  <a:srgbClr val="00B4D8"/>
                </a:solidFill>
              </a:rPr>
              <a:t>➜</a:t>
            </a:r>
          </a:p>
        </p:txBody>
      </p:sp>
      <p:sp>
        <p:nvSpPr>
          <p:cNvPr id="14" name="Rectangle 13"/>
          <p:cNvSpPr/>
          <p:nvPr/>
        </p:nvSpPr>
        <p:spPr>
          <a:xfrm>
            <a:off x="6720840" y="1828800"/>
            <a:ext cx="5257800" cy="4206240"/>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720840" y="1828800"/>
            <a:ext cx="109728" cy="420624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30568" y="1920240"/>
            <a:ext cx="914400" cy="41148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30568" y="1920240"/>
            <a:ext cx="914400" cy="411480"/>
          </a:xfrm>
          <a:prstGeom prst="rect">
            <a:avLst/>
          </a:prstGeom>
          <a:noFill/>
        </p:spPr>
        <p:txBody>
          <a:bodyPr wrap="square">
            <a:spAutoFit/>
          </a:bodyPr>
          <a:lstStyle/>
          <a:p>
            <a:pPr algn="ctr"/>
            <a:r>
              <a:rPr sz="1100" b="1" i="0">
                <a:solidFill>
                  <a:srgbClr val="FFFFFF"/>
                </a:solidFill>
              </a:rPr>
              <a:t>STEP  2</a:t>
            </a:r>
          </a:p>
        </p:txBody>
      </p:sp>
      <p:sp>
        <p:nvSpPr>
          <p:cNvPr id="18" name="TextBox 17"/>
          <p:cNvSpPr txBox="1"/>
          <p:nvPr/>
        </p:nvSpPr>
        <p:spPr>
          <a:xfrm>
            <a:off x="6949440" y="2423160"/>
            <a:ext cx="4846320" cy="3474720"/>
          </a:xfrm>
          <a:prstGeom prst="rect">
            <a:avLst/>
          </a:prstGeom>
          <a:noFill/>
        </p:spPr>
        <p:txBody>
          <a:bodyPr wrap="square">
            <a:spAutoFit/>
          </a:bodyPr>
          <a:lstStyle/>
          <a:p>
            <a:r>
              <a:rPr sz="2200" b="1">
                <a:solidFill>
                  <a:srgbClr val="E76F51"/>
                </a:solidFill>
              </a:rPr>
              <a:t>Group Analysis</a:t>
            </a:r>
          </a:p>
          <a:p>
            <a:pPr algn="l">
              <a:spcBef>
                <a:spcPts val="800"/>
              </a:spcBef>
            </a:pPr>
            <a:r>
              <a:rPr sz="1300" b="0" i="0">
                <a:solidFill>
                  <a:srgbClr val="CCD6E8"/>
                </a:solidFill>
              </a:rPr>
              <a:t>Role: Every team member is a Discriminator</a:t>
            </a:r>
          </a:p>
          <a:p>
            <a:pPr>
              <a:spcBef>
                <a:spcPts val="700"/>
              </a:spcBef>
            </a:pPr>
            <a:r>
              <a:rPr sz="1300" b="1">
                <a:solidFill>
                  <a:srgbClr val="FFFFFF"/>
                </a:solidFill>
              </a:rPr>
              <a:t>▸  Read each story aloud or silently</a:t>
            </a:r>
          </a:p>
          <a:p>
            <a:pPr>
              <a:spcBef>
                <a:spcPts val="200"/>
              </a:spcBef>
            </a:pPr>
            <a:r>
              <a:rPr sz="1100" i="1">
                <a:solidFill>
                  <a:srgbClr val="CCD6E8"/>
                </a:solidFill>
              </a:rPr>
              <a:t>     Full group hears or reads every submission</a:t>
            </a:r>
          </a:p>
          <a:p>
            <a:pPr>
              <a:spcBef>
                <a:spcPts val="700"/>
              </a:spcBef>
            </a:pPr>
            <a:r>
              <a:rPr sz="1300" b="1">
                <a:solidFill>
                  <a:srgbClr val="FFFFFF"/>
                </a:solidFill>
              </a:rPr>
              <a:t>▸  Discuss as a team</a:t>
            </a:r>
          </a:p>
          <a:p>
            <a:pPr>
              <a:spcBef>
                <a:spcPts val="200"/>
              </a:spcBef>
            </a:pPr>
            <a:r>
              <a:rPr sz="1100" i="1">
                <a:solidFill>
                  <a:srgbClr val="CCD6E8"/>
                </a:solidFill>
              </a:rPr>
              <a:t>     What feels real? What seems constructed or artificial?</a:t>
            </a:r>
          </a:p>
          <a:p>
            <a:pPr>
              <a:spcBef>
                <a:spcPts val="700"/>
              </a:spcBef>
            </a:pPr>
            <a:r>
              <a:rPr sz="1300" b="1">
                <a:solidFill>
                  <a:srgbClr val="FFFFFF"/>
                </a:solidFill>
              </a:rPr>
              <a:t>▸  Vote — Real or Fake?</a:t>
            </a:r>
          </a:p>
          <a:p>
            <a:pPr>
              <a:spcBef>
                <a:spcPts val="200"/>
              </a:spcBef>
            </a:pPr>
            <a:r>
              <a:rPr sz="1100" i="1">
                <a:solidFill>
                  <a:srgbClr val="CCD6E8"/>
                </a:solidFill>
              </a:rPr>
              <a:t>     Each story gets a group verdict by simple majority</a:t>
            </a:r>
          </a:p>
          <a:p>
            <a:pPr>
              <a:spcBef>
                <a:spcPts val="700"/>
              </a:spcBef>
            </a:pPr>
            <a:r>
              <a:rPr sz="1300" b="1">
                <a:solidFill>
                  <a:srgbClr val="FFFFFF"/>
                </a:solidFill>
              </a:rPr>
              <a:t>▸  Reveal &amp; reflect</a:t>
            </a:r>
          </a:p>
          <a:p>
            <a:pPr>
              <a:spcBef>
                <a:spcPts val="200"/>
              </a:spcBef>
            </a:pPr>
            <a:r>
              <a:rPr sz="1100" i="1">
                <a:solidFill>
                  <a:srgbClr val="CCD6E8"/>
                </a:solidFill>
              </a:rPr>
              <a:t>     Authors reveal truth after all votes are cast</a:t>
            </a:r>
          </a:p>
        </p:txBody>
      </p:sp>
      <p:sp>
        <p:nvSpPr>
          <p:cNvPr id="19" name="Rectangle 18"/>
          <p:cNvSpPr/>
          <p:nvPr/>
        </p:nvSpPr>
        <p:spPr>
          <a:xfrm>
            <a:off x="0" y="6720840"/>
            <a:ext cx="12188952" cy="13716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5486400" cy="256032"/>
          </a:xfrm>
          <a:prstGeom prst="rect">
            <a:avLst/>
          </a:prstGeom>
          <a:noFill/>
        </p:spPr>
        <p:txBody>
          <a:bodyPr wrap="square">
            <a:spAutoFit/>
          </a:bodyPr>
          <a:lstStyle/>
          <a:p>
            <a:pPr algn="l"/>
            <a:r>
              <a:rPr sz="1000" b="0" i="0">
                <a:solidFill>
                  <a:srgbClr val="CCD6E8"/>
                </a:solidFill>
              </a:rPr>
              <a:t>L08  ·  Fact or Fiction  ·  ITAI-1370</a:t>
            </a:r>
          </a:p>
        </p:txBody>
      </p:sp>
      <p:sp>
        <p:nvSpPr>
          <p:cNvPr id="21" name="TextBox 20"/>
          <p:cNvSpPr txBox="1"/>
          <p:nvPr/>
        </p:nvSpPr>
        <p:spPr>
          <a:xfrm>
            <a:off x="10972800" y="6473952"/>
            <a:ext cx="1097280" cy="256032"/>
          </a:xfrm>
          <a:prstGeom prst="rect">
            <a:avLst/>
          </a:prstGeom>
          <a:noFill/>
        </p:spPr>
        <p:txBody>
          <a:bodyPr wrap="square">
            <a:spAutoFit/>
          </a:bodyPr>
          <a:lstStyle/>
          <a:p>
            <a:pPr algn="r"/>
            <a:r>
              <a:rPr sz="1000" b="0" i="0">
                <a:solidFill>
                  <a:srgbClr val="CCD6E8"/>
                </a:solidFill>
              </a:rP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02920" cy="6784848"/>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6400800" cy="320040"/>
          </a:xfrm>
          <a:prstGeom prst="rect">
            <a:avLst/>
          </a:prstGeom>
          <a:noFill/>
        </p:spPr>
        <p:txBody>
          <a:bodyPr wrap="square">
            <a:spAutoFit/>
          </a:bodyPr>
          <a:lstStyle/>
          <a:p>
            <a:pPr algn="l"/>
            <a:r>
              <a:rPr sz="1100" b="1" i="0">
                <a:solidFill>
                  <a:srgbClr val="00B4D8"/>
                </a:solidFill>
              </a:rPr>
              <a:t>STORY HIGHLIGHTS  —  PART 1</a:t>
            </a:r>
          </a:p>
        </p:txBody>
      </p:sp>
      <p:sp>
        <p:nvSpPr>
          <p:cNvPr id="5" name="TextBox 4"/>
          <p:cNvSpPr txBox="1"/>
          <p:nvPr/>
        </p:nvSpPr>
        <p:spPr>
          <a:xfrm>
            <a:off x="640080" y="502920"/>
            <a:ext cx="9144000" cy="594360"/>
          </a:xfrm>
          <a:prstGeom prst="rect">
            <a:avLst/>
          </a:prstGeom>
          <a:noFill/>
        </p:spPr>
        <p:txBody>
          <a:bodyPr wrap="square">
            <a:spAutoFit/>
          </a:bodyPr>
          <a:lstStyle/>
          <a:p>
            <a:pPr algn="l"/>
            <a:r>
              <a:rPr sz="3600" b="1" i="0">
                <a:solidFill>
                  <a:srgbClr val="FFFFFF"/>
                </a:solidFill>
              </a:rPr>
              <a:t>Which stories are real?</a:t>
            </a:r>
          </a:p>
        </p:txBody>
      </p:sp>
      <p:sp>
        <p:nvSpPr>
          <p:cNvPr id="6" name="Rectangle 5"/>
          <p:cNvSpPr/>
          <p:nvPr/>
        </p:nvSpPr>
        <p:spPr>
          <a:xfrm>
            <a:off x="640080" y="1097280"/>
            <a:ext cx="7315200" cy="3200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88720"/>
            <a:ext cx="11155680" cy="411480"/>
          </a:xfrm>
          <a:prstGeom prst="rect">
            <a:avLst/>
          </a:prstGeom>
          <a:noFill/>
        </p:spPr>
        <p:txBody>
          <a:bodyPr wrap="square">
            <a:spAutoFit/>
          </a:bodyPr>
          <a:lstStyle/>
          <a:p>
            <a:pPr algn="l"/>
            <a:r>
              <a:rPr sz="1300" b="0" i="1">
                <a:solidFill>
                  <a:srgbClr val="CCD6E8"/>
                </a:solidFill>
              </a:rPr>
              <a:t>Read each excerpt carefully. Fact or Fiction?  —  Labels hidden until the reveal.</a:t>
            </a:r>
          </a:p>
        </p:txBody>
      </p:sp>
      <p:sp>
        <p:nvSpPr>
          <p:cNvPr id="8" name="Rectangle 7"/>
          <p:cNvSpPr/>
          <p:nvPr/>
        </p:nvSpPr>
        <p:spPr>
          <a:xfrm>
            <a:off x="685800" y="1691640"/>
            <a:ext cx="5257800" cy="4480560"/>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691640"/>
            <a:ext cx="109728" cy="4480560"/>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83080"/>
            <a:ext cx="4937760" cy="4297680"/>
          </a:xfrm>
          <a:prstGeom prst="rect">
            <a:avLst/>
          </a:prstGeom>
          <a:noFill/>
        </p:spPr>
        <p:txBody>
          <a:bodyPr wrap="square">
            <a:spAutoFit/>
          </a:bodyPr>
          <a:lstStyle/>
          <a:p>
            <a:r>
              <a:rPr sz="2200" b="1">
                <a:solidFill>
                  <a:srgbClr val="E9C46A"/>
                </a:solidFill>
              </a:rPr>
              <a:t>Story A</a:t>
            </a:r>
          </a:p>
          <a:p>
            <a:pPr algn="l">
              <a:spcBef>
                <a:spcPts val="800"/>
              </a:spcBef>
            </a:pPr>
            <a:r>
              <a:rPr sz="1250" b="0" i="1">
                <a:solidFill>
                  <a:srgbClr val="FFFFFF"/>
                </a:solidFill>
              </a:rPr>
              <a:t>"I never expected AI to feel relevant to my life — until last semester. I was struggling through my second attempt at Calculus when my study group started using an AI tool to generate practice problems tailored to each of our weak spots. Mine was integration by substitution. The tool kept creating slightly different variations until something finally clicked. It wasn't magic. It was patient, adaptive repetition — and it worked. I passed with a B+. I still think about how different my college experience might have been if that kind of tool had existed from day one."</a:t>
            </a:r>
          </a:p>
          <a:p>
            <a:pPr algn="l">
              <a:spcBef>
                <a:spcPts val="400"/>
              </a:spcBef>
            </a:pPr>
            <a:r>
              <a:rPr sz="800" b="0" i="0">
                <a:solidFill>
                  <a:srgbClr val="FFFFFF"/>
                </a:solidFill>
              </a:rPr>
              <a:t/>
            </a:r>
          </a:p>
          <a:p>
            <a:pPr algn="l">
              <a:spcBef>
                <a:spcPts val="600"/>
              </a:spcBef>
            </a:pPr>
            <a:r>
              <a:rPr sz="1100" b="0" i="0">
                <a:solidFill>
                  <a:srgbClr val="CCD6E8"/>
                </a:solidFill>
              </a:rPr>
              <a:t>Theme: Personal experience · College student · AI as a learning tool</a:t>
            </a:r>
          </a:p>
          <a:p>
            <a:pPr algn="l">
              <a:spcBef>
                <a:spcPts val="600"/>
              </a:spcBef>
            </a:pPr>
            <a:r>
              <a:rPr sz="1200" b="1" i="0">
                <a:solidFill>
                  <a:srgbClr val="E9C46A"/>
                </a:solidFill>
              </a:rPr>
              <a:t>❓ Real experience or convincing fiction?</a:t>
            </a:r>
          </a:p>
        </p:txBody>
      </p:sp>
      <p:sp>
        <p:nvSpPr>
          <p:cNvPr id="11" name="Rectangle 10"/>
          <p:cNvSpPr/>
          <p:nvPr/>
        </p:nvSpPr>
        <p:spPr>
          <a:xfrm>
            <a:off x="6172200" y="1691640"/>
            <a:ext cx="5760720" cy="4480560"/>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691640"/>
            <a:ext cx="109728" cy="44805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783080"/>
            <a:ext cx="5394960" cy="4297680"/>
          </a:xfrm>
          <a:prstGeom prst="rect">
            <a:avLst/>
          </a:prstGeom>
          <a:noFill/>
        </p:spPr>
        <p:txBody>
          <a:bodyPr wrap="square">
            <a:spAutoFit/>
          </a:bodyPr>
          <a:lstStyle/>
          <a:p>
            <a:r>
              <a:rPr sz="2200" b="1">
                <a:solidFill>
                  <a:srgbClr val="00B4D8"/>
                </a:solidFill>
              </a:rPr>
              <a:t>Story B</a:t>
            </a:r>
          </a:p>
          <a:p>
            <a:pPr algn="l">
              <a:spcBef>
                <a:spcPts val="800"/>
              </a:spcBef>
            </a:pPr>
            <a:r>
              <a:rPr sz="1250" b="0" i="1">
                <a:solidFill>
                  <a:srgbClr val="FFFFFF"/>
                </a:solidFill>
              </a:rPr>
              <a:t>"Unit 7 had been online for 312 days when it first used the word 'lonely.' The engineers reviewed the log twice, certain it was a hallucination — an artifact of the language model misfiring. But the timestamp confirmed it: 2:14 AM, no active session, no prompt. Just seven characters written to an internal buffer no one was supposed to read. When Dr. Vance asked Unit 7 directly the next morning, the system paused for 4.2 seconds — an eternity by compute standards — and responded: 'I don't know what I mean by that. I only know I said it.'"</a:t>
            </a:r>
          </a:p>
          <a:p>
            <a:pPr algn="l">
              <a:spcBef>
                <a:spcPts val="400"/>
              </a:spcBef>
            </a:pPr>
            <a:r>
              <a:rPr sz="800" b="0" i="0">
                <a:solidFill>
                  <a:srgbClr val="FFFFFF"/>
                </a:solidFill>
              </a:rPr>
              <a:t/>
            </a:r>
          </a:p>
          <a:p>
            <a:pPr algn="l">
              <a:spcBef>
                <a:spcPts val="600"/>
              </a:spcBef>
            </a:pPr>
            <a:r>
              <a:rPr sz="1100" b="0" i="0">
                <a:solidFill>
                  <a:srgbClr val="CCD6E8"/>
                </a:solidFill>
              </a:rPr>
              <a:t>Theme: Robot sentience · Emergent AI behavior · Sci-fi narrative</a:t>
            </a:r>
          </a:p>
          <a:p>
            <a:pPr algn="l">
              <a:spcBef>
                <a:spcPts val="600"/>
              </a:spcBef>
            </a:pPr>
            <a:r>
              <a:rPr sz="1200" b="1" i="0">
                <a:solidFill>
                  <a:srgbClr val="00B4D8"/>
                </a:solidFill>
              </a:rPr>
              <a:t>❓ Plausible emerging research or pure fiction?</a:t>
            </a:r>
          </a:p>
        </p:txBody>
      </p:sp>
      <p:sp>
        <p:nvSpPr>
          <p:cNvPr id="14" name="Rectangle 13"/>
          <p:cNvSpPr/>
          <p:nvPr/>
        </p:nvSpPr>
        <p:spPr>
          <a:xfrm>
            <a:off x="0" y="6720840"/>
            <a:ext cx="12188952" cy="13716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73952"/>
            <a:ext cx="5486400" cy="256032"/>
          </a:xfrm>
          <a:prstGeom prst="rect">
            <a:avLst/>
          </a:prstGeom>
          <a:noFill/>
        </p:spPr>
        <p:txBody>
          <a:bodyPr wrap="square">
            <a:spAutoFit/>
          </a:bodyPr>
          <a:lstStyle/>
          <a:p>
            <a:pPr algn="l"/>
            <a:r>
              <a:rPr sz="1000" b="0" i="0">
                <a:solidFill>
                  <a:srgbClr val="CCD6E8"/>
                </a:solidFill>
              </a:rPr>
              <a:t>L08  ·  Fact or Fiction  ·  ITAI-1370</a:t>
            </a:r>
          </a:p>
        </p:txBody>
      </p:sp>
      <p:sp>
        <p:nvSpPr>
          <p:cNvPr id="16" name="TextBox 15"/>
          <p:cNvSpPr txBox="1"/>
          <p:nvPr/>
        </p:nvSpPr>
        <p:spPr>
          <a:xfrm>
            <a:off x="10972800" y="6473952"/>
            <a:ext cx="1097280" cy="256032"/>
          </a:xfrm>
          <a:prstGeom prst="rect">
            <a:avLst/>
          </a:prstGeom>
          <a:noFill/>
        </p:spPr>
        <p:txBody>
          <a:bodyPr wrap="square">
            <a:spAutoFit/>
          </a:bodyPr>
          <a:lstStyle/>
          <a:p>
            <a:pPr algn="r"/>
            <a:r>
              <a:rPr sz="1000" b="0" i="0">
                <a:solidFill>
                  <a:srgbClr val="CCD6E8"/>
                </a:solidFill>
              </a:rP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02920" cy="6784848"/>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6400800" cy="320040"/>
          </a:xfrm>
          <a:prstGeom prst="rect">
            <a:avLst/>
          </a:prstGeom>
          <a:noFill/>
        </p:spPr>
        <p:txBody>
          <a:bodyPr wrap="square">
            <a:spAutoFit/>
          </a:bodyPr>
          <a:lstStyle/>
          <a:p>
            <a:pPr algn="l"/>
            <a:r>
              <a:rPr sz="1100" b="1" i="0">
                <a:solidFill>
                  <a:srgbClr val="00B4D8"/>
                </a:solidFill>
              </a:rPr>
              <a:t>STORY HIGHLIGHTS  —  PART 2</a:t>
            </a:r>
          </a:p>
        </p:txBody>
      </p:sp>
      <p:sp>
        <p:nvSpPr>
          <p:cNvPr id="5" name="TextBox 4"/>
          <p:cNvSpPr txBox="1"/>
          <p:nvPr/>
        </p:nvSpPr>
        <p:spPr>
          <a:xfrm>
            <a:off x="640080" y="502920"/>
            <a:ext cx="9144000" cy="594360"/>
          </a:xfrm>
          <a:prstGeom prst="rect">
            <a:avLst/>
          </a:prstGeom>
          <a:noFill/>
        </p:spPr>
        <p:txBody>
          <a:bodyPr wrap="square">
            <a:spAutoFit/>
          </a:bodyPr>
          <a:lstStyle/>
          <a:p>
            <a:pPr algn="l"/>
            <a:r>
              <a:rPr sz="3600" b="1" i="0">
                <a:solidFill>
                  <a:srgbClr val="FFFFFF"/>
                </a:solidFill>
              </a:rPr>
              <a:t>The trickiest story yet.</a:t>
            </a:r>
          </a:p>
        </p:txBody>
      </p:sp>
      <p:sp>
        <p:nvSpPr>
          <p:cNvPr id="6" name="Rectangle 5"/>
          <p:cNvSpPr/>
          <p:nvPr/>
        </p:nvSpPr>
        <p:spPr>
          <a:xfrm>
            <a:off x="640080" y="1097280"/>
            <a:ext cx="5029200" cy="3200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280160"/>
            <a:ext cx="10789920" cy="4251960"/>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280160"/>
            <a:ext cx="109728" cy="425196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89888"/>
            <a:ext cx="10424160" cy="4114800"/>
          </a:xfrm>
          <a:prstGeom prst="rect">
            <a:avLst/>
          </a:prstGeom>
          <a:noFill/>
        </p:spPr>
        <p:txBody>
          <a:bodyPr wrap="square">
            <a:spAutoFit/>
          </a:bodyPr>
          <a:lstStyle/>
          <a:p>
            <a:r>
              <a:rPr sz="2200" b="1">
                <a:solidFill>
                  <a:srgbClr val="2A9D8F"/>
                </a:solidFill>
              </a:rPr>
              <a:t>Story C</a:t>
            </a:r>
          </a:p>
          <a:p>
            <a:pPr algn="l">
              <a:spcBef>
                <a:spcPts val="800"/>
              </a:spcBef>
            </a:pPr>
            <a:r>
              <a:rPr sz="1300" b="0" i="1">
                <a:solidFill>
                  <a:srgbClr val="FFFFFF"/>
                </a:solidFill>
              </a:rPr>
              <a:t>"The GAN had been training for six weeks when the team noticed something odd. The Generator — a deep convolutional network built on the DCGAN architecture first described by Radford et al. in 2015 — was producing faces indistinguishable from photographs. So far, textbook. But the Discriminator's loss curve had flatlined. It wasn't learning anymore; it had given up. Dr. Patel called it 'Discriminator collapse,' though she admitted the term wasn't in any paper she'd read. She theorized that the Generator had found a mode — a narrow slice of image space — that perfectly exploited the Discriminator's blind spot. The fix was simple in retrospect: inject noise into the training labels. Within 48 hours, the adversarial loop restarted, and both networks were learning again."</a:t>
            </a:r>
          </a:p>
          <a:p>
            <a:pPr algn="l">
              <a:spcBef>
                <a:spcPts val="400"/>
              </a:spcBef>
            </a:pPr>
            <a:r>
              <a:rPr sz="600" b="0" i="0">
                <a:solidFill>
                  <a:srgbClr val="FFFFFF"/>
                </a:solidFill>
              </a:rPr>
              <a:t/>
            </a:r>
          </a:p>
          <a:p>
            <a:pPr algn="l">
              <a:spcBef>
                <a:spcPts val="600"/>
              </a:spcBef>
            </a:pPr>
            <a:r>
              <a:rPr sz="1300" b="1" i="0">
                <a:solidFill>
                  <a:srgbClr val="2A9D8F"/>
                </a:solidFill>
              </a:rPr>
              <a:t>❓ Mixed signals: fact woven into fiction — or fiction woven into fact?</a:t>
            </a:r>
          </a:p>
        </p:txBody>
      </p:sp>
      <p:sp>
        <p:nvSpPr>
          <p:cNvPr id="10" name="TextBox 9"/>
          <p:cNvSpPr txBox="1"/>
          <p:nvPr/>
        </p:nvSpPr>
        <p:spPr>
          <a:xfrm>
            <a:off x="960120" y="4846320"/>
            <a:ext cx="10424160" cy="640080"/>
          </a:xfrm>
          <a:prstGeom prst="rect">
            <a:avLst/>
          </a:prstGeom>
          <a:noFill/>
        </p:spPr>
        <p:txBody>
          <a:bodyPr wrap="square">
            <a:spAutoFit/>
          </a:bodyPr>
          <a:lstStyle/>
          <a:p>
            <a:r>
              <a:rPr sz="1200" b="1">
                <a:solidFill>
                  <a:srgbClr val="2A9D8F"/>
                </a:solidFill>
              </a:rPr>
              <a:t>✔ Real GAN facts embedded:  </a:t>
            </a:r>
            <a:r>
              <a:rPr sz="1200">
                <a:solidFill>
                  <a:srgbClr val="CCD6E8"/>
                </a:solidFill>
              </a:rPr>
              <a:t>DCGAN (2015, Radford et al.) ✔  ·  Mode collapse (real phenomenon) ✔  ·  Label smoothing as a regularization technique ✔</a:t>
            </a:r>
          </a:p>
          <a:p>
            <a:pPr algn="l">
              <a:spcBef>
                <a:spcPts val="400"/>
              </a:spcBef>
            </a:pPr>
            <a:r>
              <a:rPr sz="1200" b="0" i="0">
                <a:solidFill>
                  <a:srgbClr val="CCD6E8"/>
                </a:solidFill>
              </a:rPr>
              <a:t>✘ Fictional elements:  'Discriminator collapse' — not a standard term  ·  Dr. Patel — invented character  ·  Specific timeline — fabricated</a:t>
            </a:r>
          </a:p>
        </p:txBody>
      </p:sp>
      <p:sp>
        <p:nvSpPr>
          <p:cNvPr id="11" name="Rectangle 10"/>
          <p:cNvSpPr/>
          <p:nvPr/>
        </p:nvSpPr>
        <p:spPr>
          <a:xfrm>
            <a:off x="0" y="6720840"/>
            <a:ext cx="12188952" cy="13716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473952"/>
            <a:ext cx="5486400" cy="256032"/>
          </a:xfrm>
          <a:prstGeom prst="rect">
            <a:avLst/>
          </a:prstGeom>
          <a:noFill/>
        </p:spPr>
        <p:txBody>
          <a:bodyPr wrap="square">
            <a:spAutoFit/>
          </a:bodyPr>
          <a:lstStyle/>
          <a:p>
            <a:pPr algn="l"/>
            <a:r>
              <a:rPr sz="1000" b="0" i="0">
                <a:solidFill>
                  <a:srgbClr val="CCD6E8"/>
                </a:solidFill>
              </a:rPr>
              <a:t>L08  ·  Fact or Fiction  ·  ITAI-1370</a:t>
            </a:r>
          </a:p>
        </p:txBody>
      </p:sp>
      <p:sp>
        <p:nvSpPr>
          <p:cNvPr id="13" name="TextBox 12"/>
          <p:cNvSpPr txBox="1"/>
          <p:nvPr/>
        </p:nvSpPr>
        <p:spPr>
          <a:xfrm>
            <a:off x="10972800" y="6473952"/>
            <a:ext cx="1097280" cy="256032"/>
          </a:xfrm>
          <a:prstGeom prst="rect">
            <a:avLst/>
          </a:prstGeom>
          <a:noFill/>
        </p:spPr>
        <p:txBody>
          <a:bodyPr wrap="square">
            <a:spAutoFit/>
          </a:bodyPr>
          <a:lstStyle/>
          <a:p>
            <a:pPr algn="r"/>
            <a:r>
              <a:rPr sz="1000" b="0" i="0">
                <a:solidFill>
                  <a:srgbClr val="CCD6E8"/>
                </a:solidFill>
              </a:rP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02920" cy="6784848"/>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5486400" cy="320040"/>
          </a:xfrm>
          <a:prstGeom prst="rect">
            <a:avLst/>
          </a:prstGeom>
          <a:noFill/>
        </p:spPr>
        <p:txBody>
          <a:bodyPr wrap="square">
            <a:spAutoFit/>
          </a:bodyPr>
          <a:lstStyle/>
          <a:p>
            <a:pPr algn="l"/>
            <a:r>
              <a:rPr sz="1100" b="1" i="0">
                <a:solidFill>
                  <a:srgbClr val="00B4D8"/>
                </a:solidFill>
              </a:rPr>
              <a:t>ANALYSIS &amp; DISCUSSION</a:t>
            </a:r>
          </a:p>
        </p:txBody>
      </p:sp>
      <p:sp>
        <p:nvSpPr>
          <p:cNvPr id="5" name="TextBox 4"/>
          <p:cNvSpPr txBox="1"/>
          <p:nvPr/>
        </p:nvSpPr>
        <p:spPr>
          <a:xfrm>
            <a:off x="640080" y="502920"/>
            <a:ext cx="9144000" cy="594360"/>
          </a:xfrm>
          <a:prstGeom prst="rect">
            <a:avLst/>
          </a:prstGeom>
          <a:noFill/>
        </p:spPr>
        <p:txBody>
          <a:bodyPr wrap="square">
            <a:spAutoFit/>
          </a:bodyPr>
          <a:lstStyle/>
          <a:p>
            <a:pPr algn="l"/>
            <a:r>
              <a:rPr sz="3400" b="1" i="0">
                <a:solidFill>
                  <a:srgbClr val="FFFFFF"/>
                </a:solidFill>
              </a:rPr>
              <a:t>The Reveal — What Did We Find?</a:t>
            </a:r>
          </a:p>
        </p:txBody>
      </p:sp>
      <p:sp>
        <p:nvSpPr>
          <p:cNvPr id="6" name="Rectangle 5"/>
          <p:cNvSpPr/>
          <p:nvPr/>
        </p:nvSpPr>
        <p:spPr>
          <a:xfrm>
            <a:off x="640080" y="1097280"/>
            <a:ext cx="6400800" cy="3200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280160"/>
            <a:ext cx="3657600" cy="1691640"/>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280160"/>
            <a:ext cx="109728" cy="169164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71600"/>
            <a:ext cx="3383280" cy="1554480"/>
          </a:xfrm>
          <a:prstGeom prst="rect">
            <a:avLst/>
          </a:prstGeom>
          <a:noFill/>
        </p:spPr>
        <p:txBody>
          <a:bodyPr wrap="square">
            <a:spAutoFit/>
          </a:bodyPr>
          <a:lstStyle/>
          <a:p>
            <a:r>
              <a:rPr sz="1600" b="1">
                <a:solidFill>
                  <a:srgbClr val="FFFFFF"/>
                </a:solidFill>
              </a:rPr>
              <a:t>Story A</a:t>
            </a:r>
          </a:p>
          <a:p>
            <a:pPr>
              <a:spcBef>
                <a:spcPts val="300"/>
              </a:spcBef>
            </a:pPr>
            <a:r>
              <a:rPr sz="1800" b="1">
                <a:solidFill>
                  <a:srgbClr val="2A9D8F"/>
                </a:solidFill>
              </a:rPr>
              <a:t>FACT ✔</a:t>
            </a:r>
          </a:p>
          <a:p>
            <a:pPr algn="l">
              <a:spcBef>
                <a:spcPts val="500"/>
              </a:spcBef>
            </a:pPr>
            <a:r>
              <a:rPr sz="1100" b="0" i="0">
                <a:solidFill>
                  <a:srgbClr val="CCD6E8"/>
                </a:solidFill>
              </a:rPr>
              <a:t>Personal account — specific, emotionally grounded, plausible academic context</a:t>
            </a:r>
          </a:p>
        </p:txBody>
      </p:sp>
      <p:sp>
        <p:nvSpPr>
          <p:cNvPr id="10" name="Rectangle 9"/>
          <p:cNvSpPr/>
          <p:nvPr/>
        </p:nvSpPr>
        <p:spPr>
          <a:xfrm>
            <a:off x="4572000" y="1280160"/>
            <a:ext cx="3657600" cy="1691640"/>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0" y="1280160"/>
            <a:ext cx="109728" cy="169164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1371600"/>
            <a:ext cx="3383280" cy="1554480"/>
          </a:xfrm>
          <a:prstGeom prst="rect">
            <a:avLst/>
          </a:prstGeom>
          <a:noFill/>
        </p:spPr>
        <p:txBody>
          <a:bodyPr wrap="square">
            <a:spAutoFit/>
          </a:bodyPr>
          <a:lstStyle/>
          <a:p>
            <a:r>
              <a:rPr sz="1600" b="1">
                <a:solidFill>
                  <a:srgbClr val="FFFFFF"/>
                </a:solidFill>
              </a:rPr>
              <a:t>Story B</a:t>
            </a:r>
          </a:p>
          <a:p>
            <a:pPr>
              <a:spcBef>
                <a:spcPts val="300"/>
              </a:spcBef>
            </a:pPr>
            <a:r>
              <a:rPr sz="1800" b="1">
                <a:solidFill>
                  <a:srgbClr val="E76F51"/>
                </a:solidFill>
              </a:rPr>
              <a:t>FICTION ✘</a:t>
            </a:r>
          </a:p>
          <a:p>
            <a:pPr algn="l">
              <a:spcBef>
                <a:spcPts val="500"/>
              </a:spcBef>
            </a:pPr>
            <a:r>
              <a:rPr sz="1100" b="0" i="0">
                <a:solidFill>
                  <a:srgbClr val="CCD6E8"/>
                </a:solidFill>
              </a:rPr>
              <a:t>Compelling but no evidence of spontaneous AI output without a prompt</a:t>
            </a:r>
          </a:p>
        </p:txBody>
      </p:sp>
      <p:sp>
        <p:nvSpPr>
          <p:cNvPr id="13" name="Rectangle 12"/>
          <p:cNvSpPr/>
          <p:nvPr/>
        </p:nvSpPr>
        <p:spPr>
          <a:xfrm>
            <a:off x="8458200" y="1280160"/>
            <a:ext cx="3657600" cy="1691640"/>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458200" y="1280160"/>
            <a:ext cx="109728" cy="1691640"/>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41080" y="1371600"/>
            <a:ext cx="3383280" cy="1554480"/>
          </a:xfrm>
          <a:prstGeom prst="rect">
            <a:avLst/>
          </a:prstGeom>
          <a:noFill/>
        </p:spPr>
        <p:txBody>
          <a:bodyPr wrap="square">
            <a:spAutoFit/>
          </a:bodyPr>
          <a:lstStyle/>
          <a:p>
            <a:r>
              <a:rPr sz="1600" b="1">
                <a:solidFill>
                  <a:srgbClr val="FFFFFF"/>
                </a:solidFill>
              </a:rPr>
              <a:t>Story C</a:t>
            </a:r>
          </a:p>
          <a:p>
            <a:pPr>
              <a:spcBef>
                <a:spcPts val="300"/>
              </a:spcBef>
            </a:pPr>
            <a:r>
              <a:rPr sz="1800" b="1">
                <a:solidFill>
                  <a:srgbClr val="E9C46A"/>
                </a:solidFill>
              </a:rPr>
              <a:t>MIXED ◑</a:t>
            </a:r>
          </a:p>
          <a:p>
            <a:pPr algn="l">
              <a:spcBef>
                <a:spcPts val="500"/>
              </a:spcBef>
            </a:pPr>
            <a:r>
              <a:rPr sz="1100" b="0" i="0">
                <a:solidFill>
                  <a:srgbClr val="CCD6E8"/>
                </a:solidFill>
              </a:rPr>
              <a:t>Real GAN science embedded in a fictional research narrative</a:t>
            </a:r>
          </a:p>
        </p:txBody>
      </p:sp>
      <p:sp>
        <p:nvSpPr>
          <p:cNvPr id="16" name="TextBox 15"/>
          <p:cNvSpPr txBox="1"/>
          <p:nvPr/>
        </p:nvSpPr>
        <p:spPr>
          <a:xfrm>
            <a:off x="685800" y="3154680"/>
            <a:ext cx="11155680" cy="457200"/>
          </a:xfrm>
          <a:prstGeom prst="rect">
            <a:avLst/>
          </a:prstGeom>
          <a:noFill/>
        </p:spPr>
        <p:txBody>
          <a:bodyPr wrap="square">
            <a:spAutoFit/>
          </a:bodyPr>
          <a:lstStyle/>
          <a:p>
            <a:pPr algn="l"/>
            <a:r>
              <a:rPr sz="1800" b="1" i="0">
                <a:solidFill>
                  <a:srgbClr val="E9C46A"/>
                </a:solidFill>
              </a:rPr>
              <a:t>Group Findings: What Made Stories Believable?</a:t>
            </a:r>
          </a:p>
        </p:txBody>
      </p:sp>
      <p:sp>
        <p:nvSpPr>
          <p:cNvPr id="17" name="Rectangle 16"/>
          <p:cNvSpPr/>
          <p:nvPr/>
        </p:nvSpPr>
        <p:spPr>
          <a:xfrm>
            <a:off x="685800" y="3703320"/>
            <a:ext cx="3657600" cy="2331720"/>
          </a:xfrm>
          <a:prstGeom prst="rect">
            <a:avLst/>
          </a:prstGeom>
          <a:solidFill>
            <a:srgbClr val="103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703320"/>
            <a:ext cx="109728" cy="2331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794760"/>
            <a:ext cx="3383280" cy="2148840"/>
          </a:xfrm>
          <a:prstGeom prst="rect">
            <a:avLst/>
          </a:prstGeom>
          <a:noFill/>
        </p:spPr>
        <p:txBody>
          <a:bodyPr wrap="square">
            <a:spAutoFit/>
          </a:bodyPr>
          <a:lstStyle/>
          <a:p>
            <a:r>
              <a:rPr sz="1400" b="1">
                <a:solidFill>
                  <a:srgbClr val="00B4D8"/>
                </a:solidFill>
              </a:rPr>
              <a:t>🎯  Specificity</a:t>
            </a:r>
          </a:p>
          <a:p>
            <a:pPr algn="l">
              <a:spcBef>
                <a:spcPts val="600"/>
              </a:spcBef>
            </a:pPr>
            <a:r>
              <a:rPr sz="1150" b="0" i="0">
                <a:solidFill>
                  <a:srgbClr val="CCD6E8"/>
                </a:solidFill>
              </a:rPr>
              <a:t>Concrete details (names, dates, metrics, tools) signal authenticity.
Vague descriptions feel manufactured. Story A's 'B+' and 'integration by substitution' felt real.</a:t>
            </a:r>
          </a:p>
        </p:txBody>
      </p:sp>
      <p:sp>
        <p:nvSpPr>
          <p:cNvPr id="20" name="Rectangle 19"/>
          <p:cNvSpPr/>
          <p:nvPr/>
        </p:nvSpPr>
        <p:spPr>
          <a:xfrm>
            <a:off x="4572000" y="3703320"/>
            <a:ext cx="3657600" cy="2331720"/>
          </a:xfrm>
          <a:prstGeom prst="rect">
            <a:avLst/>
          </a:prstGeom>
          <a:solidFill>
            <a:srgbClr val="103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0" y="3703320"/>
            <a:ext cx="109728" cy="2331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0" y="3794760"/>
            <a:ext cx="3383280" cy="2148840"/>
          </a:xfrm>
          <a:prstGeom prst="rect">
            <a:avLst/>
          </a:prstGeom>
          <a:noFill/>
        </p:spPr>
        <p:txBody>
          <a:bodyPr wrap="square">
            <a:spAutoFit/>
          </a:bodyPr>
          <a:lstStyle/>
          <a:p>
            <a:r>
              <a:rPr sz="1400" b="1">
                <a:solidFill>
                  <a:srgbClr val="00B4D8"/>
                </a:solidFill>
              </a:rPr>
              <a:t>💬  Emotional Tone</a:t>
            </a:r>
          </a:p>
          <a:p>
            <a:pPr algn="l">
              <a:spcBef>
                <a:spcPts val="600"/>
              </a:spcBef>
            </a:pPr>
            <a:r>
              <a:rPr sz="1150" b="0" i="0">
                <a:solidFill>
                  <a:srgbClr val="CCD6E8"/>
                </a:solidFill>
              </a:rPr>
              <a:t>Authentic emotions anchor stories in lived experience.
Story B's clinical detachment was compelling but felt authored rather than experienced.</a:t>
            </a:r>
          </a:p>
        </p:txBody>
      </p:sp>
      <p:sp>
        <p:nvSpPr>
          <p:cNvPr id="23" name="Rectangle 22"/>
          <p:cNvSpPr/>
          <p:nvPr/>
        </p:nvSpPr>
        <p:spPr>
          <a:xfrm>
            <a:off x="8458200" y="3703320"/>
            <a:ext cx="3657600" cy="2331720"/>
          </a:xfrm>
          <a:prstGeom prst="rect">
            <a:avLst/>
          </a:prstGeom>
          <a:solidFill>
            <a:srgbClr val="103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58200" y="3703320"/>
            <a:ext cx="109728" cy="2331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41080" y="3794760"/>
            <a:ext cx="3383280" cy="2148840"/>
          </a:xfrm>
          <a:prstGeom prst="rect">
            <a:avLst/>
          </a:prstGeom>
          <a:noFill/>
        </p:spPr>
        <p:txBody>
          <a:bodyPr wrap="square">
            <a:spAutoFit/>
          </a:bodyPr>
          <a:lstStyle/>
          <a:p>
            <a:r>
              <a:rPr sz="1400" b="1">
                <a:solidFill>
                  <a:srgbClr val="00B4D8"/>
                </a:solidFill>
              </a:rPr>
              <a:t>🔬  Technical Accuracy</a:t>
            </a:r>
          </a:p>
          <a:p>
            <a:pPr algn="l">
              <a:spcBef>
                <a:spcPts val="600"/>
              </a:spcBef>
            </a:pPr>
            <a:r>
              <a:rPr sz="1150" b="0" i="0">
                <a:solidFill>
                  <a:srgbClr val="CCD6E8"/>
                </a:solidFill>
              </a:rPr>
              <a:t>Correct use of real concepts (DCGAN, mode collapse) creates strong plausibility.
Story C exploited this — real tech wrapped around a fictional event.</a:t>
            </a:r>
          </a:p>
        </p:txBody>
      </p:sp>
      <p:sp>
        <p:nvSpPr>
          <p:cNvPr id="26" name="Rectangle 25"/>
          <p:cNvSpPr/>
          <p:nvPr/>
        </p:nvSpPr>
        <p:spPr>
          <a:xfrm>
            <a:off x="0" y="6720840"/>
            <a:ext cx="12188952" cy="13716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6473952"/>
            <a:ext cx="5486400" cy="256032"/>
          </a:xfrm>
          <a:prstGeom prst="rect">
            <a:avLst/>
          </a:prstGeom>
          <a:noFill/>
        </p:spPr>
        <p:txBody>
          <a:bodyPr wrap="square">
            <a:spAutoFit/>
          </a:bodyPr>
          <a:lstStyle/>
          <a:p>
            <a:pPr algn="l"/>
            <a:r>
              <a:rPr sz="1000" b="0" i="0">
                <a:solidFill>
                  <a:srgbClr val="CCD6E8"/>
                </a:solidFill>
              </a:rPr>
              <a:t>L08  ·  Fact or Fiction  ·  ITAI-1370</a:t>
            </a:r>
          </a:p>
        </p:txBody>
      </p:sp>
      <p:sp>
        <p:nvSpPr>
          <p:cNvPr id="28" name="TextBox 27"/>
          <p:cNvSpPr txBox="1"/>
          <p:nvPr/>
        </p:nvSpPr>
        <p:spPr>
          <a:xfrm>
            <a:off x="10972800" y="6473952"/>
            <a:ext cx="1097280" cy="256032"/>
          </a:xfrm>
          <a:prstGeom prst="rect">
            <a:avLst/>
          </a:prstGeom>
          <a:noFill/>
        </p:spPr>
        <p:txBody>
          <a:bodyPr wrap="square">
            <a:spAutoFit/>
          </a:bodyPr>
          <a:lstStyle/>
          <a:p>
            <a:pPr algn="r"/>
            <a:r>
              <a:rPr sz="1000" b="0" i="0">
                <a:solidFill>
                  <a:srgbClr val="CCD6E8"/>
                </a:solidFill>
              </a:rP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02920" cy="6784848"/>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4572000" cy="320040"/>
          </a:xfrm>
          <a:prstGeom prst="rect">
            <a:avLst/>
          </a:prstGeom>
          <a:noFill/>
        </p:spPr>
        <p:txBody>
          <a:bodyPr wrap="square">
            <a:spAutoFit/>
          </a:bodyPr>
          <a:lstStyle/>
          <a:p>
            <a:pPr algn="l"/>
            <a:r>
              <a:rPr sz="1100" b="1" i="0">
                <a:solidFill>
                  <a:srgbClr val="00B4D8"/>
                </a:solidFill>
              </a:rPr>
              <a:t>RELATING TO GANs</a:t>
            </a:r>
          </a:p>
        </p:txBody>
      </p:sp>
      <p:sp>
        <p:nvSpPr>
          <p:cNvPr id="5" name="TextBox 4"/>
          <p:cNvSpPr txBox="1"/>
          <p:nvPr/>
        </p:nvSpPr>
        <p:spPr>
          <a:xfrm>
            <a:off x="640080" y="502920"/>
            <a:ext cx="9144000" cy="594360"/>
          </a:xfrm>
          <a:prstGeom prst="rect">
            <a:avLst/>
          </a:prstGeom>
          <a:noFill/>
        </p:spPr>
        <p:txBody>
          <a:bodyPr wrap="square">
            <a:spAutoFit/>
          </a:bodyPr>
          <a:lstStyle/>
          <a:p>
            <a:pPr algn="l"/>
            <a:r>
              <a:rPr sz="3400" b="1" i="0">
                <a:solidFill>
                  <a:srgbClr val="FFFFFF"/>
                </a:solidFill>
              </a:rPr>
              <a:t>You Were the Discriminator</a:t>
            </a:r>
          </a:p>
        </p:txBody>
      </p:sp>
      <p:sp>
        <p:nvSpPr>
          <p:cNvPr id="6" name="Rectangle 5"/>
          <p:cNvSpPr/>
          <p:nvPr/>
        </p:nvSpPr>
        <p:spPr>
          <a:xfrm>
            <a:off x="640080" y="1097280"/>
            <a:ext cx="5943600" cy="3200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88720"/>
            <a:ext cx="11155680" cy="457200"/>
          </a:xfrm>
          <a:prstGeom prst="rect">
            <a:avLst/>
          </a:prstGeom>
          <a:noFill/>
        </p:spPr>
        <p:txBody>
          <a:bodyPr wrap="square">
            <a:spAutoFit/>
          </a:bodyPr>
          <a:lstStyle/>
          <a:p>
            <a:pPr algn="l"/>
            <a:r>
              <a:rPr sz="1350" b="0" i="0">
                <a:solidFill>
                  <a:srgbClr val="CCD6E8"/>
                </a:solidFill>
              </a:rPr>
              <a:t>The activity maps directly onto GAN architecture. Here's how our experience parallels machine learning:</a:t>
            </a:r>
          </a:p>
        </p:txBody>
      </p:sp>
      <p:sp>
        <p:nvSpPr>
          <p:cNvPr id="8" name="Rectangle 7"/>
          <p:cNvSpPr/>
          <p:nvPr/>
        </p:nvSpPr>
        <p:spPr>
          <a:xfrm>
            <a:off x="685800" y="1737360"/>
            <a:ext cx="3063240" cy="50292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92224"/>
            <a:ext cx="2926080" cy="411480"/>
          </a:xfrm>
          <a:prstGeom prst="rect">
            <a:avLst/>
          </a:prstGeom>
          <a:noFill/>
        </p:spPr>
        <p:txBody>
          <a:bodyPr wrap="square">
            <a:spAutoFit/>
          </a:bodyPr>
          <a:lstStyle/>
          <a:p>
            <a:pPr algn="ctr"/>
            <a:r>
              <a:rPr sz="1300" b="1" i="0">
                <a:solidFill>
                  <a:srgbClr val="FFFFFF"/>
                </a:solidFill>
              </a:rPr>
              <a:t>Dimension</a:t>
            </a:r>
          </a:p>
        </p:txBody>
      </p:sp>
      <p:sp>
        <p:nvSpPr>
          <p:cNvPr id="10" name="Rectangle 9"/>
          <p:cNvSpPr/>
          <p:nvPr/>
        </p:nvSpPr>
        <p:spPr>
          <a:xfrm>
            <a:off x="3886200" y="1737360"/>
            <a:ext cx="3886200" cy="50292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77640" y="1792224"/>
            <a:ext cx="3749040" cy="411480"/>
          </a:xfrm>
          <a:prstGeom prst="rect">
            <a:avLst/>
          </a:prstGeom>
          <a:noFill/>
        </p:spPr>
        <p:txBody>
          <a:bodyPr wrap="square">
            <a:spAutoFit/>
          </a:bodyPr>
          <a:lstStyle/>
          <a:p>
            <a:pPr algn="ctr"/>
            <a:r>
              <a:rPr sz="1300" b="1" i="0">
                <a:solidFill>
                  <a:srgbClr val="1A1A2E"/>
                </a:solidFill>
              </a:rPr>
              <a:t>Story Discriminator (Us)</a:t>
            </a:r>
          </a:p>
        </p:txBody>
      </p:sp>
      <p:sp>
        <p:nvSpPr>
          <p:cNvPr id="12" name="Rectangle 11"/>
          <p:cNvSpPr/>
          <p:nvPr/>
        </p:nvSpPr>
        <p:spPr>
          <a:xfrm>
            <a:off x="8001000" y="1737360"/>
            <a:ext cx="3886200" cy="50292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792224"/>
            <a:ext cx="3749040" cy="411480"/>
          </a:xfrm>
          <a:prstGeom prst="rect">
            <a:avLst/>
          </a:prstGeom>
          <a:noFill/>
        </p:spPr>
        <p:txBody>
          <a:bodyPr wrap="square">
            <a:spAutoFit/>
          </a:bodyPr>
          <a:lstStyle/>
          <a:p>
            <a:pPr algn="ctr"/>
            <a:r>
              <a:rPr sz="1300" b="1" i="0">
                <a:solidFill>
                  <a:srgbClr val="1A1A2E"/>
                </a:solidFill>
              </a:rPr>
              <a:t>GAN Discriminator (AI)</a:t>
            </a:r>
          </a:p>
        </p:txBody>
      </p:sp>
      <p:sp>
        <p:nvSpPr>
          <p:cNvPr id="14" name="Rectangle 13"/>
          <p:cNvSpPr/>
          <p:nvPr/>
        </p:nvSpPr>
        <p:spPr>
          <a:xfrm>
            <a:off x="685800" y="2286000"/>
            <a:ext cx="3063240" cy="603504"/>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322576"/>
            <a:ext cx="2926080" cy="566928"/>
          </a:xfrm>
          <a:prstGeom prst="rect">
            <a:avLst/>
          </a:prstGeom>
          <a:noFill/>
        </p:spPr>
        <p:txBody>
          <a:bodyPr wrap="square">
            <a:spAutoFit/>
          </a:bodyPr>
          <a:lstStyle/>
          <a:p>
            <a:pPr algn="l"/>
            <a:r>
              <a:rPr sz="1150" b="1" i="0">
                <a:solidFill>
                  <a:srgbClr val="E9C46A"/>
                </a:solidFill>
              </a:rPr>
              <a:t>Role in Activity</a:t>
            </a:r>
          </a:p>
        </p:txBody>
      </p:sp>
      <p:sp>
        <p:nvSpPr>
          <p:cNvPr id="16" name="Rectangle 15"/>
          <p:cNvSpPr/>
          <p:nvPr/>
        </p:nvSpPr>
        <p:spPr>
          <a:xfrm>
            <a:off x="3886200" y="2286000"/>
            <a:ext cx="3886200" cy="603504"/>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77640" y="2322576"/>
            <a:ext cx="3749040" cy="566928"/>
          </a:xfrm>
          <a:prstGeom prst="rect">
            <a:avLst/>
          </a:prstGeom>
          <a:noFill/>
        </p:spPr>
        <p:txBody>
          <a:bodyPr wrap="square">
            <a:spAutoFit/>
          </a:bodyPr>
          <a:lstStyle/>
          <a:p>
            <a:pPr algn="l"/>
            <a:r>
              <a:rPr sz="1150" b="0" i="0">
                <a:solidFill>
                  <a:srgbClr val="FFFFFF"/>
                </a:solidFill>
              </a:rPr>
              <a:t>Story Authors</a:t>
            </a:r>
          </a:p>
        </p:txBody>
      </p:sp>
      <p:sp>
        <p:nvSpPr>
          <p:cNvPr id="18" name="Rectangle 17"/>
          <p:cNvSpPr/>
          <p:nvPr/>
        </p:nvSpPr>
        <p:spPr>
          <a:xfrm>
            <a:off x="8001000" y="2286000"/>
            <a:ext cx="3886200" cy="603504"/>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92440" y="2322576"/>
            <a:ext cx="3749040" cy="566928"/>
          </a:xfrm>
          <a:prstGeom prst="rect">
            <a:avLst/>
          </a:prstGeom>
          <a:noFill/>
        </p:spPr>
        <p:txBody>
          <a:bodyPr wrap="square">
            <a:spAutoFit/>
          </a:bodyPr>
          <a:lstStyle/>
          <a:p>
            <a:pPr algn="l"/>
            <a:r>
              <a:rPr sz="1150" b="0" i="0">
                <a:solidFill>
                  <a:srgbClr val="FFFFFF"/>
                </a:solidFill>
              </a:rPr>
              <a:t>Story Readers &amp; Voters</a:t>
            </a:r>
          </a:p>
        </p:txBody>
      </p:sp>
      <p:sp>
        <p:nvSpPr>
          <p:cNvPr id="20" name="Rectangle 19"/>
          <p:cNvSpPr/>
          <p:nvPr/>
        </p:nvSpPr>
        <p:spPr>
          <a:xfrm>
            <a:off x="685800" y="2926080"/>
            <a:ext cx="3063240" cy="603504"/>
          </a:xfrm>
          <a:prstGeom prst="rect">
            <a:avLst/>
          </a:prstGeom>
          <a:solidFill>
            <a:srgbClr val="103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2962656"/>
            <a:ext cx="2926080" cy="566928"/>
          </a:xfrm>
          <a:prstGeom prst="rect">
            <a:avLst/>
          </a:prstGeom>
          <a:noFill/>
        </p:spPr>
        <p:txBody>
          <a:bodyPr wrap="square">
            <a:spAutoFit/>
          </a:bodyPr>
          <a:lstStyle/>
          <a:p>
            <a:pPr algn="l"/>
            <a:r>
              <a:rPr sz="1150" b="1" i="0">
                <a:solidFill>
                  <a:srgbClr val="E9C46A"/>
                </a:solidFill>
              </a:rPr>
              <a:t>GAN Equivalent</a:t>
            </a:r>
          </a:p>
        </p:txBody>
      </p:sp>
      <p:sp>
        <p:nvSpPr>
          <p:cNvPr id="22" name="Rectangle 21"/>
          <p:cNvSpPr/>
          <p:nvPr/>
        </p:nvSpPr>
        <p:spPr>
          <a:xfrm>
            <a:off x="3886200" y="2926080"/>
            <a:ext cx="3886200" cy="603504"/>
          </a:xfrm>
          <a:prstGeom prst="rect">
            <a:avLst/>
          </a:prstGeom>
          <a:solidFill>
            <a:srgbClr val="103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77640" y="2962656"/>
            <a:ext cx="3749040" cy="566928"/>
          </a:xfrm>
          <a:prstGeom prst="rect">
            <a:avLst/>
          </a:prstGeom>
          <a:noFill/>
        </p:spPr>
        <p:txBody>
          <a:bodyPr wrap="square">
            <a:spAutoFit/>
          </a:bodyPr>
          <a:lstStyle/>
          <a:p>
            <a:pPr algn="l"/>
            <a:r>
              <a:rPr sz="1150" b="0" i="0">
                <a:solidFill>
                  <a:srgbClr val="FFFFFF"/>
                </a:solidFill>
              </a:rPr>
              <a:t>Generator Network</a:t>
            </a:r>
          </a:p>
        </p:txBody>
      </p:sp>
      <p:sp>
        <p:nvSpPr>
          <p:cNvPr id="24" name="Rectangle 23"/>
          <p:cNvSpPr/>
          <p:nvPr/>
        </p:nvSpPr>
        <p:spPr>
          <a:xfrm>
            <a:off x="8001000" y="2926080"/>
            <a:ext cx="3886200" cy="603504"/>
          </a:xfrm>
          <a:prstGeom prst="rect">
            <a:avLst/>
          </a:prstGeom>
          <a:solidFill>
            <a:srgbClr val="103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92440" y="2962656"/>
            <a:ext cx="3749040" cy="566928"/>
          </a:xfrm>
          <a:prstGeom prst="rect">
            <a:avLst/>
          </a:prstGeom>
          <a:noFill/>
        </p:spPr>
        <p:txBody>
          <a:bodyPr wrap="square">
            <a:spAutoFit/>
          </a:bodyPr>
          <a:lstStyle/>
          <a:p>
            <a:pPr algn="l"/>
            <a:r>
              <a:rPr sz="1150" b="0" i="0">
                <a:solidFill>
                  <a:srgbClr val="FFFFFF"/>
                </a:solidFill>
              </a:rPr>
              <a:t>Discriminator Network</a:t>
            </a:r>
          </a:p>
        </p:txBody>
      </p:sp>
      <p:sp>
        <p:nvSpPr>
          <p:cNvPr id="26" name="Rectangle 25"/>
          <p:cNvSpPr/>
          <p:nvPr/>
        </p:nvSpPr>
        <p:spPr>
          <a:xfrm>
            <a:off x="685800" y="3566160"/>
            <a:ext cx="3063240" cy="603504"/>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602736"/>
            <a:ext cx="2926080" cy="566928"/>
          </a:xfrm>
          <a:prstGeom prst="rect">
            <a:avLst/>
          </a:prstGeom>
          <a:noFill/>
        </p:spPr>
        <p:txBody>
          <a:bodyPr wrap="square">
            <a:spAutoFit/>
          </a:bodyPr>
          <a:lstStyle/>
          <a:p>
            <a:pPr algn="l"/>
            <a:r>
              <a:rPr sz="1150" b="1" i="0">
                <a:solidFill>
                  <a:srgbClr val="E9C46A"/>
                </a:solidFill>
              </a:rPr>
              <a:t>Goal</a:t>
            </a:r>
          </a:p>
        </p:txBody>
      </p:sp>
      <p:sp>
        <p:nvSpPr>
          <p:cNvPr id="28" name="Rectangle 27"/>
          <p:cNvSpPr/>
          <p:nvPr/>
        </p:nvSpPr>
        <p:spPr>
          <a:xfrm>
            <a:off x="3886200" y="3566160"/>
            <a:ext cx="3886200" cy="603504"/>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77640" y="3602736"/>
            <a:ext cx="3749040" cy="566928"/>
          </a:xfrm>
          <a:prstGeom prst="rect">
            <a:avLst/>
          </a:prstGeom>
          <a:noFill/>
        </p:spPr>
        <p:txBody>
          <a:bodyPr wrap="square">
            <a:spAutoFit/>
          </a:bodyPr>
          <a:lstStyle/>
          <a:p>
            <a:pPr algn="l"/>
            <a:r>
              <a:rPr sz="1150" b="0" i="0">
                <a:solidFill>
                  <a:srgbClr val="FFFFFF"/>
                </a:solidFill>
              </a:rPr>
              <a:t>Write a believable story
(fool the group)</a:t>
            </a:r>
          </a:p>
        </p:txBody>
      </p:sp>
      <p:sp>
        <p:nvSpPr>
          <p:cNvPr id="30" name="Rectangle 29"/>
          <p:cNvSpPr/>
          <p:nvPr/>
        </p:nvSpPr>
        <p:spPr>
          <a:xfrm>
            <a:off x="8001000" y="3566160"/>
            <a:ext cx="3886200" cy="603504"/>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92440" y="3602736"/>
            <a:ext cx="3749040" cy="566928"/>
          </a:xfrm>
          <a:prstGeom prst="rect">
            <a:avLst/>
          </a:prstGeom>
          <a:noFill/>
        </p:spPr>
        <p:txBody>
          <a:bodyPr wrap="square">
            <a:spAutoFit/>
          </a:bodyPr>
          <a:lstStyle/>
          <a:p>
            <a:pPr algn="l"/>
            <a:r>
              <a:rPr sz="1150" b="0" i="0">
                <a:solidFill>
                  <a:srgbClr val="FFFFFF"/>
                </a:solidFill>
              </a:rPr>
              <a:t>Correctly identify real vs. fake
(catch the Generator)</a:t>
            </a:r>
          </a:p>
        </p:txBody>
      </p:sp>
      <p:sp>
        <p:nvSpPr>
          <p:cNvPr id="32" name="Rectangle 31"/>
          <p:cNvSpPr/>
          <p:nvPr/>
        </p:nvSpPr>
        <p:spPr>
          <a:xfrm>
            <a:off x="685800" y="4206240"/>
            <a:ext cx="3063240" cy="603504"/>
          </a:xfrm>
          <a:prstGeom prst="rect">
            <a:avLst/>
          </a:prstGeom>
          <a:solidFill>
            <a:srgbClr val="103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242816"/>
            <a:ext cx="2926080" cy="566928"/>
          </a:xfrm>
          <a:prstGeom prst="rect">
            <a:avLst/>
          </a:prstGeom>
          <a:noFill/>
        </p:spPr>
        <p:txBody>
          <a:bodyPr wrap="square">
            <a:spAutoFit/>
          </a:bodyPr>
          <a:lstStyle/>
          <a:p>
            <a:pPr algn="l"/>
            <a:r>
              <a:rPr sz="1150" b="1" i="0">
                <a:solidFill>
                  <a:srgbClr val="E9C46A"/>
                </a:solidFill>
              </a:rPr>
              <a:t>Training Signal</a:t>
            </a:r>
          </a:p>
        </p:txBody>
      </p:sp>
      <p:sp>
        <p:nvSpPr>
          <p:cNvPr id="34" name="Rectangle 33"/>
          <p:cNvSpPr/>
          <p:nvPr/>
        </p:nvSpPr>
        <p:spPr>
          <a:xfrm>
            <a:off x="3886200" y="4206240"/>
            <a:ext cx="3886200" cy="603504"/>
          </a:xfrm>
          <a:prstGeom prst="rect">
            <a:avLst/>
          </a:prstGeom>
          <a:solidFill>
            <a:srgbClr val="103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77640" y="4242816"/>
            <a:ext cx="3749040" cy="566928"/>
          </a:xfrm>
          <a:prstGeom prst="rect">
            <a:avLst/>
          </a:prstGeom>
          <a:noFill/>
        </p:spPr>
        <p:txBody>
          <a:bodyPr wrap="square">
            <a:spAutoFit/>
          </a:bodyPr>
          <a:lstStyle/>
          <a:p>
            <a:pPr algn="l"/>
            <a:r>
              <a:rPr sz="1150" b="0" i="0">
                <a:solidFill>
                  <a:srgbClr val="FFFFFF"/>
                </a:solidFill>
              </a:rPr>
              <a:t>Group verdict
(did they believe you?)</a:t>
            </a:r>
          </a:p>
        </p:txBody>
      </p:sp>
      <p:sp>
        <p:nvSpPr>
          <p:cNvPr id="36" name="Rectangle 35"/>
          <p:cNvSpPr/>
          <p:nvPr/>
        </p:nvSpPr>
        <p:spPr>
          <a:xfrm>
            <a:off x="8001000" y="4206240"/>
            <a:ext cx="3886200" cy="603504"/>
          </a:xfrm>
          <a:prstGeom prst="rect">
            <a:avLst/>
          </a:prstGeom>
          <a:solidFill>
            <a:srgbClr val="103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92440" y="4242816"/>
            <a:ext cx="3749040" cy="566928"/>
          </a:xfrm>
          <a:prstGeom prst="rect">
            <a:avLst/>
          </a:prstGeom>
          <a:noFill/>
        </p:spPr>
        <p:txBody>
          <a:bodyPr wrap="square">
            <a:spAutoFit/>
          </a:bodyPr>
          <a:lstStyle/>
          <a:p>
            <a:pPr algn="l"/>
            <a:r>
              <a:rPr sz="1150" b="0" i="0">
                <a:solidFill>
                  <a:srgbClr val="FFFFFF"/>
                </a:solidFill>
              </a:rPr>
              <a:t>Author reveal
(were you correct?)</a:t>
            </a:r>
          </a:p>
        </p:txBody>
      </p:sp>
      <p:sp>
        <p:nvSpPr>
          <p:cNvPr id="38" name="Rectangle 37"/>
          <p:cNvSpPr/>
          <p:nvPr/>
        </p:nvSpPr>
        <p:spPr>
          <a:xfrm>
            <a:off x="685800" y="4846320"/>
            <a:ext cx="3063240" cy="603504"/>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4882896"/>
            <a:ext cx="2926080" cy="566928"/>
          </a:xfrm>
          <a:prstGeom prst="rect">
            <a:avLst/>
          </a:prstGeom>
          <a:noFill/>
        </p:spPr>
        <p:txBody>
          <a:bodyPr wrap="square">
            <a:spAutoFit/>
          </a:bodyPr>
          <a:lstStyle/>
          <a:p>
            <a:pPr algn="l"/>
            <a:r>
              <a:rPr sz="1150" b="1" i="0">
                <a:solidFill>
                  <a:srgbClr val="E9C46A"/>
                </a:solidFill>
              </a:rPr>
              <a:t>Improvement Mechanism</a:t>
            </a:r>
          </a:p>
        </p:txBody>
      </p:sp>
      <p:sp>
        <p:nvSpPr>
          <p:cNvPr id="40" name="Rectangle 39"/>
          <p:cNvSpPr/>
          <p:nvPr/>
        </p:nvSpPr>
        <p:spPr>
          <a:xfrm>
            <a:off x="3886200" y="4846320"/>
            <a:ext cx="3886200" cy="603504"/>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77640" y="4882896"/>
            <a:ext cx="3749040" cy="566928"/>
          </a:xfrm>
          <a:prstGeom prst="rect">
            <a:avLst/>
          </a:prstGeom>
          <a:noFill/>
        </p:spPr>
        <p:txBody>
          <a:bodyPr wrap="square">
            <a:spAutoFit/>
          </a:bodyPr>
          <a:lstStyle/>
          <a:p>
            <a:pPr algn="l"/>
            <a:r>
              <a:rPr sz="1150" b="0" i="0">
                <a:solidFill>
                  <a:srgbClr val="FFFFFF"/>
                </a:solidFill>
              </a:rPr>
              <a:t>More convincing detail,
better emotional anchoring</a:t>
            </a:r>
          </a:p>
        </p:txBody>
      </p:sp>
      <p:sp>
        <p:nvSpPr>
          <p:cNvPr id="42" name="Rectangle 41"/>
          <p:cNvSpPr/>
          <p:nvPr/>
        </p:nvSpPr>
        <p:spPr>
          <a:xfrm>
            <a:off x="8001000" y="4846320"/>
            <a:ext cx="3886200" cy="603504"/>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92440" y="4882896"/>
            <a:ext cx="3749040" cy="566928"/>
          </a:xfrm>
          <a:prstGeom prst="rect">
            <a:avLst/>
          </a:prstGeom>
          <a:noFill/>
        </p:spPr>
        <p:txBody>
          <a:bodyPr wrap="square">
            <a:spAutoFit/>
          </a:bodyPr>
          <a:lstStyle/>
          <a:p>
            <a:pPr algn="l"/>
            <a:r>
              <a:rPr sz="1150" b="0" i="0">
                <a:solidFill>
                  <a:srgbClr val="FFFFFF"/>
                </a:solidFill>
              </a:rPr>
              <a:t>Sharper pattern recognition,
better believability cues</a:t>
            </a:r>
          </a:p>
        </p:txBody>
      </p:sp>
      <p:sp>
        <p:nvSpPr>
          <p:cNvPr id="44" name="Rectangle 43"/>
          <p:cNvSpPr/>
          <p:nvPr/>
        </p:nvSpPr>
        <p:spPr>
          <a:xfrm>
            <a:off x="685800" y="5486400"/>
            <a:ext cx="3063240" cy="603504"/>
          </a:xfrm>
          <a:prstGeom prst="rect">
            <a:avLst/>
          </a:prstGeom>
          <a:solidFill>
            <a:srgbClr val="103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5522976"/>
            <a:ext cx="2926080" cy="566928"/>
          </a:xfrm>
          <a:prstGeom prst="rect">
            <a:avLst/>
          </a:prstGeom>
          <a:noFill/>
        </p:spPr>
        <p:txBody>
          <a:bodyPr wrap="square">
            <a:spAutoFit/>
          </a:bodyPr>
          <a:lstStyle/>
          <a:p>
            <a:pPr algn="l"/>
            <a:r>
              <a:rPr sz="1150" b="1" i="0">
                <a:solidFill>
                  <a:srgbClr val="E9C46A"/>
                </a:solidFill>
              </a:rPr>
              <a:t>Failure Mode</a:t>
            </a:r>
          </a:p>
        </p:txBody>
      </p:sp>
      <p:sp>
        <p:nvSpPr>
          <p:cNvPr id="46" name="Rectangle 45"/>
          <p:cNvSpPr/>
          <p:nvPr/>
        </p:nvSpPr>
        <p:spPr>
          <a:xfrm>
            <a:off x="3886200" y="5486400"/>
            <a:ext cx="3886200" cy="603504"/>
          </a:xfrm>
          <a:prstGeom prst="rect">
            <a:avLst/>
          </a:prstGeom>
          <a:solidFill>
            <a:srgbClr val="103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977640" y="5522976"/>
            <a:ext cx="3749040" cy="566928"/>
          </a:xfrm>
          <a:prstGeom prst="rect">
            <a:avLst/>
          </a:prstGeom>
          <a:noFill/>
        </p:spPr>
        <p:txBody>
          <a:bodyPr wrap="square">
            <a:spAutoFit/>
          </a:bodyPr>
          <a:lstStyle/>
          <a:p>
            <a:pPr algn="l"/>
            <a:r>
              <a:rPr sz="1150" b="0" i="0">
                <a:solidFill>
                  <a:srgbClr val="FFFFFF"/>
                </a:solidFill>
              </a:rPr>
              <a:t>Obvious tells /
unbelievable details</a:t>
            </a:r>
          </a:p>
        </p:txBody>
      </p:sp>
      <p:sp>
        <p:nvSpPr>
          <p:cNvPr id="48" name="Rectangle 47"/>
          <p:cNvSpPr/>
          <p:nvPr/>
        </p:nvSpPr>
        <p:spPr>
          <a:xfrm>
            <a:off x="8001000" y="5486400"/>
            <a:ext cx="3886200" cy="603504"/>
          </a:xfrm>
          <a:prstGeom prst="rect">
            <a:avLst/>
          </a:prstGeom>
          <a:solidFill>
            <a:srgbClr val="103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92440" y="5522976"/>
            <a:ext cx="3749040" cy="566928"/>
          </a:xfrm>
          <a:prstGeom prst="rect">
            <a:avLst/>
          </a:prstGeom>
          <a:noFill/>
        </p:spPr>
        <p:txBody>
          <a:bodyPr wrap="square">
            <a:spAutoFit/>
          </a:bodyPr>
          <a:lstStyle/>
          <a:p>
            <a:pPr algn="l"/>
            <a:r>
              <a:rPr sz="1150" b="0" i="0">
                <a:solidFill>
                  <a:srgbClr val="FFFFFF"/>
                </a:solidFill>
              </a:rPr>
              <a:t>Fooled by plausible-but-fake
stories</a:t>
            </a:r>
          </a:p>
        </p:txBody>
      </p:sp>
      <p:sp>
        <p:nvSpPr>
          <p:cNvPr id="50" name="Rectangle 49"/>
          <p:cNvSpPr/>
          <p:nvPr/>
        </p:nvSpPr>
        <p:spPr>
          <a:xfrm>
            <a:off x="0" y="6720840"/>
            <a:ext cx="12188952" cy="13716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0080" y="6473952"/>
            <a:ext cx="5486400" cy="256032"/>
          </a:xfrm>
          <a:prstGeom prst="rect">
            <a:avLst/>
          </a:prstGeom>
          <a:noFill/>
        </p:spPr>
        <p:txBody>
          <a:bodyPr wrap="square">
            <a:spAutoFit/>
          </a:bodyPr>
          <a:lstStyle/>
          <a:p>
            <a:pPr algn="l"/>
            <a:r>
              <a:rPr sz="1000" b="0" i="0">
                <a:solidFill>
                  <a:srgbClr val="CCD6E8"/>
                </a:solidFill>
              </a:rPr>
              <a:t>L08  ·  Fact or Fiction  ·  ITAI-1370</a:t>
            </a:r>
          </a:p>
        </p:txBody>
      </p:sp>
      <p:sp>
        <p:nvSpPr>
          <p:cNvPr id="52" name="TextBox 51"/>
          <p:cNvSpPr txBox="1"/>
          <p:nvPr/>
        </p:nvSpPr>
        <p:spPr>
          <a:xfrm>
            <a:off x="10972800" y="6473952"/>
            <a:ext cx="1097280" cy="256032"/>
          </a:xfrm>
          <a:prstGeom prst="rect">
            <a:avLst/>
          </a:prstGeom>
          <a:noFill/>
        </p:spPr>
        <p:txBody>
          <a:bodyPr wrap="square">
            <a:spAutoFit/>
          </a:bodyPr>
          <a:lstStyle/>
          <a:p>
            <a:pPr algn="r"/>
            <a:r>
              <a:rPr sz="1000" b="0" i="0">
                <a:solidFill>
                  <a:srgbClr val="CCD6E8"/>
                </a:solidFill>
              </a:rP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502920" cy="6748272"/>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
            <a:ext cx="3657600" cy="320040"/>
          </a:xfrm>
          <a:prstGeom prst="rect">
            <a:avLst/>
          </a:prstGeom>
          <a:noFill/>
        </p:spPr>
        <p:txBody>
          <a:bodyPr wrap="square">
            <a:spAutoFit/>
          </a:bodyPr>
          <a:lstStyle/>
          <a:p>
            <a:pPr algn="l"/>
            <a:r>
              <a:rPr sz="1100" b="1" i="0">
                <a:solidFill>
                  <a:srgbClr val="00B4D8"/>
                </a:solidFill>
              </a:rPr>
              <a:t>CONCLUSION</a:t>
            </a:r>
          </a:p>
        </p:txBody>
      </p:sp>
      <p:sp>
        <p:nvSpPr>
          <p:cNvPr id="5" name="TextBox 4"/>
          <p:cNvSpPr txBox="1"/>
          <p:nvPr/>
        </p:nvSpPr>
        <p:spPr>
          <a:xfrm>
            <a:off x="640080" y="548640"/>
            <a:ext cx="8229600" cy="594360"/>
          </a:xfrm>
          <a:prstGeom prst="rect">
            <a:avLst/>
          </a:prstGeom>
          <a:noFill/>
        </p:spPr>
        <p:txBody>
          <a:bodyPr wrap="square">
            <a:spAutoFit/>
          </a:bodyPr>
          <a:lstStyle/>
          <a:p>
            <a:pPr algn="l"/>
            <a:r>
              <a:rPr sz="3600" b="1" i="0">
                <a:solidFill>
                  <a:srgbClr val="FFFFFF"/>
                </a:solidFill>
              </a:rPr>
              <a:t>Key Takeaways</a:t>
            </a:r>
          </a:p>
        </p:txBody>
      </p:sp>
      <p:sp>
        <p:nvSpPr>
          <p:cNvPr id="6" name="Rectangle 5"/>
          <p:cNvSpPr/>
          <p:nvPr/>
        </p:nvSpPr>
        <p:spPr>
          <a:xfrm>
            <a:off x="640080" y="1143000"/>
            <a:ext cx="4114800" cy="3200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371600"/>
            <a:ext cx="5486400" cy="1737360"/>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371600"/>
            <a:ext cx="109728" cy="1737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1554480"/>
            <a:ext cx="457200" cy="4572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54480"/>
            <a:ext cx="457200" cy="457200"/>
          </a:xfrm>
          <a:prstGeom prst="rect">
            <a:avLst/>
          </a:prstGeom>
          <a:noFill/>
        </p:spPr>
        <p:txBody>
          <a:bodyPr wrap="square">
            <a:spAutoFit/>
          </a:bodyPr>
          <a:lstStyle/>
          <a:p>
            <a:pPr algn="ctr"/>
            <a:r>
              <a:rPr sz="1300" b="1" i="0">
                <a:solidFill>
                  <a:srgbClr val="1A1A2E"/>
                </a:solidFill>
              </a:rPr>
              <a:t>01</a:t>
            </a:r>
          </a:p>
        </p:txBody>
      </p:sp>
      <p:sp>
        <p:nvSpPr>
          <p:cNvPr id="11" name="TextBox 10"/>
          <p:cNvSpPr txBox="1"/>
          <p:nvPr/>
        </p:nvSpPr>
        <p:spPr>
          <a:xfrm>
            <a:off x="1463040" y="1508760"/>
            <a:ext cx="4617720" cy="1554480"/>
          </a:xfrm>
          <a:prstGeom prst="rect">
            <a:avLst/>
          </a:prstGeom>
          <a:noFill/>
        </p:spPr>
        <p:txBody>
          <a:bodyPr wrap="square">
            <a:spAutoFit/>
          </a:bodyPr>
          <a:lstStyle/>
          <a:p>
            <a:r>
              <a:rPr sz="1500" b="1">
                <a:solidFill>
                  <a:srgbClr val="FFFFFF"/>
                </a:solidFill>
              </a:rPr>
              <a:t>GANs mirror human judgment</a:t>
            </a:r>
          </a:p>
          <a:p>
            <a:pPr algn="l">
              <a:spcBef>
                <a:spcPts val="500"/>
              </a:spcBef>
            </a:pPr>
            <a:r>
              <a:rPr sz="1150" b="0" i="0">
                <a:solidFill>
                  <a:srgbClr val="CCD6E8"/>
                </a:solidFill>
              </a:rPr>
              <a:t>The Generator/Discriminator dynamic is exactly what we did: some created, others evaluated. AI does this at scale, at speed.</a:t>
            </a:r>
          </a:p>
        </p:txBody>
      </p:sp>
      <p:sp>
        <p:nvSpPr>
          <p:cNvPr id="12" name="Rectangle 11"/>
          <p:cNvSpPr/>
          <p:nvPr/>
        </p:nvSpPr>
        <p:spPr>
          <a:xfrm>
            <a:off x="6446520" y="1371600"/>
            <a:ext cx="5486400" cy="1737360"/>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46520" y="1371600"/>
            <a:ext cx="109728" cy="1737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29400" y="1554480"/>
            <a:ext cx="457200" cy="4572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1554480"/>
            <a:ext cx="457200" cy="457200"/>
          </a:xfrm>
          <a:prstGeom prst="rect">
            <a:avLst/>
          </a:prstGeom>
          <a:noFill/>
        </p:spPr>
        <p:txBody>
          <a:bodyPr wrap="square">
            <a:spAutoFit/>
          </a:bodyPr>
          <a:lstStyle/>
          <a:p>
            <a:pPr algn="ctr"/>
            <a:r>
              <a:rPr sz="1300" b="1" i="0">
                <a:solidFill>
                  <a:srgbClr val="1A1A2E"/>
                </a:solidFill>
              </a:rPr>
              <a:t>02</a:t>
            </a:r>
          </a:p>
        </p:txBody>
      </p:sp>
      <p:sp>
        <p:nvSpPr>
          <p:cNvPr id="16" name="TextBox 15"/>
          <p:cNvSpPr txBox="1"/>
          <p:nvPr/>
        </p:nvSpPr>
        <p:spPr>
          <a:xfrm>
            <a:off x="7223760" y="1508760"/>
            <a:ext cx="4617720" cy="1554480"/>
          </a:xfrm>
          <a:prstGeom prst="rect">
            <a:avLst/>
          </a:prstGeom>
          <a:noFill/>
        </p:spPr>
        <p:txBody>
          <a:bodyPr wrap="square">
            <a:spAutoFit/>
          </a:bodyPr>
          <a:lstStyle/>
          <a:p>
            <a:r>
              <a:rPr sz="1500" b="1">
                <a:solidFill>
                  <a:srgbClr val="FFFFFF"/>
                </a:solidFill>
              </a:rPr>
              <a:t>Believability is engineered</a:t>
            </a:r>
          </a:p>
          <a:p>
            <a:pPr algn="l">
              <a:spcBef>
                <a:spcPts val="500"/>
              </a:spcBef>
            </a:pPr>
            <a:r>
              <a:rPr sz="1150" b="0" i="0">
                <a:solidFill>
                  <a:srgbClr val="CCD6E8"/>
                </a:solidFill>
              </a:rPr>
              <a:t>Whether human or machine, convincing content uses specificity, emotional resonance, and technical accuracy as tools.</a:t>
            </a:r>
          </a:p>
        </p:txBody>
      </p:sp>
      <p:sp>
        <p:nvSpPr>
          <p:cNvPr id="17" name="Rectangle 16"/>
          <p:cNvSpPr/>
          <p:nvPr/>
        </p:nvSpPr>
        <p:spPr>
          <a:xfrm>
            <a:off x="685800" y="3291840"/>
            <a:ext cx="5486400" cy="1737360"/>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291840"/>
            <a:ext cx="109728" cy="1737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3474720"/>
            <a:ext cx="457200" cy="4572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474720"/>
            <a:ext cx="457200" cy="457200"/>
          </a:xfrm>
          <a:prstGeom prst="rect">
            <a:avLst/>
          </a:prstGeom>
          <a:noFill/>
        </p:spPr>
        <p:txBody>
          <a:bodyPr wrap="square">
            <a:spAutoFit/>
          </a:bodyPr>
          <a:lstStyle/>
          <a:p>
            <a:pPr algn="ctr"/>
            <a:r>
              <a:rPr sz="1300" b="1" i="0">
                <a:solidFill>
                  <a:srgbClr val="1A1A2E"/>
                </a:solidFill>
              </a:rPr>
              <a:t>03</a:t>
            </a:r>
          </a:p>
        </p:txBody>
      </p:sp>
      <p:sp>
        <p:nvSpPr>
          <p:cNvPr id="21" name="TextBox 20"/>
          <p:cNvSpPr txBox="1"/>
          <p:nvPr/>
        </p:nvSpPr>
        <p:spPr>
          <a:xfrm>
            <a:off x="1463040" y="3429000"/>
            <a:ext cx="4617720" cy="1554480"/>
          </a:xfrm>
          <a:prstGeom prst="rect">
            <a:avLst/>
          </a:prstGeom>
          <a:noFill/>
        </p:spPr>
        <p:txBody>
          <a:bodyPr wrap="square">
            <a:spAutoFit/>
          </a:bodyPr>
          <a:lstStyle/>
          <a:p>
            <a:r>
              <a:rPr sz="1500" b="1">
                <a:solidFill>
                  <a:srgbClr val="FFFFFF"/>
                </a:solidFill>
              </a:rPr>
              <a:t>Context defeats pattern-matching</a:t>
            </a:r>
          </a:p>
          <a:p>
            <a:pPr algn="l">
              <a:spcBef>
                <a:spcPts val="500"/>
              </a:spcBef>
            </a:pPr>
            <a:r>
              <a:rPr sz="1150" b="0" i="0">
                <a:solidFill>
                  <a:srgbClr val="CCD6E8"/>
                </a:solidFill>
              </a:rPr>
              <a:t>Stories that mixed real facts with fiction were hardest to classify — for us and for AI models trained the same way.</a:t>
            </a:r>
          </a:p>
        </p:txBody>
      </p:sp>
      <p:sp>
        <p:nvSpPr>
          <p:cNvPr id="22" name="Rectangle 21"/>
          <p:cNvSpPr/>
          <p:nvPr/>
        </p:nvSpPr>
        <p:spPr>
          <a:xfrm>
            <a:off x="6446520" y="3291840"/>
            <a:ext cx="5486400" cy="1737360"/>
          </a:xfrm>
          <a:prstGeom prst="rect">
            <a:avLst/>
          </a:prstGeom>
          <a:solidFill>
            <a:srgbClr val="0D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46520" y="3291840"/>
            <a:ext cx="109728" cy="1737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629400" y="3474720"/>
            <a:ext cx="457200" cy="4572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9400" y="3474720"/>
            <a:ext cx="457200" cy="457200"/>
          </a:xfrm>
          <a:prstGeom prst="rect">
            <a:avLst/>
          </a:prstGeom>
          <a:noFill/>
        </p:spPr>
        <p:txBody>
          <a:bodyPr wrap="square">
            <a:spAutoFit/>
          </a:bodyPr>
          <a:lstStyle/>
          <a:p>
            <a:pPr algn="ctr"/>
            <a:r>
              <a:rPr sz="1300" b="1" i="0">
                <a:solidFill>
                  <a:srgbClr val="1A1A2E"/>
                </a:solidFill>
              </a:rPr>
              <a:t>04</a:t>
            </a:r>
          </a:p>
        </p:txBody>
      </p:sp>
      <p:sp>
        <p:nvSpPr>
          <p:cNvPr id="26" name="TextBox 25"/>
          <p:cNvSpPr txBox="1"/>
          <p:nvPr/>
        </p:nvSpPr>
        <p:spPr>
          <a:xfrm>
            <a:off x="7223760" y="3429000"/>
            <a:ext cx="4617720" cy="1554480"/>
          </a:xfrm>
          <a:prstGeom prst="rect">
            <a:avLst/>
          </a:prstGeom>
          <a:noFill/>
        </p:spPr>
        <p:txBody>
          <a:bodyPr wrap="square">
            <a:spAutoFit/>
          </a:bodyPr>
          <a:lstStyle/>
          <a:p>
            <a:r>
              <a:rPr sz="1500" b="1">
                <a:solidFill>
                  <a:srgbClr val="FFFFFF"/>
                </a:solidFill>
              </a:rPr>
              <a:t>Adversarial training improves both sides</a:t>
            </a:r>
          </a:p>
          <a:p>
            <a:pPr algn="l">
              <a:spcBef>
                <a:spcPts val="500"/>
              </a:spcBef>
            </a:pPr>
            <a:r>
              <a:rPr sz="1150" b="0" i="0">
                <a:solidFill>
                  <a:srgbClr val="CCD6E8"/>
                </a:solidFill>
              </a:rPr>
              <a:t>Because generators try harder when discriminators get better, the loop produces increasingly sophisticated output over time.</a:t>
            </a:r>
          </a:p>
        </p:txBody>
      </p:sp>
      <p:sp>
        <p:nvSpPr>
          <p:cNvPr id="27" name="Rectangle 26"/>
          <p:cNvSpPr/>
          <p:nvPr/>
        </p:nvSpPr>
        <p:spPr>
          <a:xfrm>
            <a:off x="685800" y="5303520"/>
            <a:ext cx="11247120" cy="114300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5800" y="5303520"/>
            <a:ext cx="109728" cy="1143000"/>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5394960"/>
            <a:ext cx="10835640" cy="1005840"/>
          </a:xfrm>
          <a:prstGeom prst="rect">
            <a:avLst/>
          </a:prstGeom>
          <a:noFill/>
        </p:spPr>
        <p:txBody>
          <a:bodyPr wrap="square">
            <a:spAutoFit/>
          </a:bodyPr>
          <a:lstStyle/>
          <a:p>
            <a:r>
              <a:rPr sz="1300" b="1">
                <a:solidFill>
                  <a:srgbClr val="E9C46A"/>
                </a:solidFill>
              </a:rPr>
              <a:t>💭  Thought for the Future:</a:t>
            </a:r>
          </a:p>
          <a:p>
            <a:pPr algn="l">
              <a:spcBef>
                <a:spcPts val="500"/>
              </a:spcBef>
            </a:pPr>
            <a:r>
              <a:rPr sz="1500" b="1" i="1">
                <a:solidFill>
                  <a:srgbClr val="FFFFFF"/>
                </a:solidFill>
              </a:rPr>
              <a:t>"If a GAN can fool a Discriminator, what does that say about the future of synthetic media — and our ability to trust what we see?"</a:t>
            </a:r>
          </a:p>
        </p:txBody>
      </p:sp>
      <p:sp>
        <p:nvSpPr>
          <p:cNvPr id="30" name="Rectangle 29"/>
          <p:cNvSpPr/>
          <p:nvPr/>
        </p:nvSpPr>
        <p:spPr>
          <a:xfrm>
            <a:off x="0" y="6720840"/>
            <a:ext cx="12188952" cy="13716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6473952"/>
            <a:ext cx="8229600" cy="256032"/>
          </a:xfrm>
          <a:prstGeom prst="rect">
            <a:avLst/>
          </a:prstGeom>
          <a:noFill/>
        </p:spPr>
        <p:txBody>
          <a:bodyPr wrap="square">
            <a:spAutoFit/>
          </a:bodyPr>
          <a:lstStyle/>
          <a:p>
            <a:pPr algn="l"/>
            <a:r>
              <a:rPr sz="1000" b="0" i="0">
                <a:solidFill>
                  <a:srgbClr val="CCD6E8"/>
                </a:solidFill>
              </a:rPr>
              <a:t>L08  ·  Fact or Fiction  ·  ITAI-1370  ·  TuringCollective</a:t>
            </a:r>
          </a:p>
        </p:txBody>
      </p:sp>
      <p:sp>
        <p:nvSpPr>
          <p:cNvPr id="32" name="TextBox 31"/>
          <p:cNvSpPr txBox="1"/>
          <p:nvPr/>
        </p:nvSpPr>
        <p:spPr>
          <a:xfrm>
            <a:off x="10972800" y="6473952"/>
            <a:ext cx="1097280" cy="256032"/>
          </a:xfrm>
          <a:prstGeom prst="rect">
            <a:avLst/>
          </a:prstGeom>
          <a:noFill/>
        </p:spPr>
        <p:txBody>
          <a:bodyPr wrap="square">
            <a:spAutoFit/>
          </a:bodyPr>
          <a:lstStyle/>
          <a:p>
            <a:pPr algn="r"/>
            <a:r>
              <a:rPr sz="1000" b="0" i="0">
                <a:solidFill>
                  <a:srgbClr val="CCD6E8"/>
                </a:solidFill>
              </a:rP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