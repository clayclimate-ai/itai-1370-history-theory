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GenAI Patent Families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733</c:v>
                </c:pt>
                <c:pt idx="1">
                  <c:v>1050</c:v>
                </c:pt>
                <c:pt idx="2">
                  <c:v>1520</c:v>
                </c:pt>
                <c:pt idx="3">
                  <c:v>2200</c:v>
                </c:pt>
                <c:pt idx="4">
                  <c:v>3500</c:v>
                </c:pt>
                <c:pt idx="5">
                  <c:v>5200</c:v>
                </c:pt>
                <c:pt idx="6">
                  <c:v>7200</c:v>
                </c:pt>
                <c:pt idx="7">
                  <c:v>9800</c:v>
                </c:pt>
                <c:pt idx="8">
                  <c:v>11500</c:v>
                </c:pt>
                <c:pt idx="9">
                  <c:v>14000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B0-AE4D-B4B4-A839C954B1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447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</a:rPr>
              <a:t>ITAI-1370 · A02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&amp; AI Patents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A02 — Two-Part Submission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8229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Clay  ·  TuringCollective  ·  Houston Community College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Anna Devarakonda  ·  Summer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3474720" cy="640080"/>
          </a:xfrm>
          <a:prstGeom prst="roundRect">
            <a:avLst>
              <a:gd name="adj" fmla="val 8571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 1 — Why Google Was Created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4160520"/>
            <a:ext cx="4434840" cy="640080"/>
          </a:xfrm>
          <a:prstGeom prst="roundRect">
            <a:avLst>
              <a:gd name="adj" fmla="val 8571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51960" y="416052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 2 — AI Patents Issued (2014–2023)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48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Google Was Created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(1996–1998)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mid-1990s, the World Wide Web was exploding — millions of pages with no organized way to find relevant information. Existing search engines like AltaVista and Yahoo ranked pages by how many times a keyword appeared, making results easy to manipulate and often irrelevant.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291840"/>
            <a:ext cx="3749040" cy="1005840"/>
          </a:xfrm>
          <a:prstGeom prst="roundRect">
            <a:avLst>
              <a:gd name="adj" fmla="val 4545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3337560"/>
            <a:ext cx="3621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perfect search engine would understand exactly what you mean and give back exactly what you want."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Larry Page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188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PageRank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664208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Larry Page &amp; Sergey Brin — PhD students at Stanford University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September 4, 1998, Menlo Park, CA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PageRank algorithm — ranked pages by the quality and quantity of links pointing to them, mimicking academic citation analysis.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"To organize the world's information and make it universally accessible and useful."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Stross, R. (2008). Planet Google. Free Press. | Google (n.d.). Our history. https://about.google/our-story/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48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Patent Families Issued Per Year (2014–2023)</a:t>
            </a:r>
            <a:endParaRPr lang="en-US" sz="2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005840"/>
          <a:ext cx="84124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WIPO Patent Landscape Report — Generative Artificial Intelligence (2024) | wipo.int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 that explain the patent surge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2017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" y="199339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Introduced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2578608"/>
            <a:ext cx="1883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'Attention Is All You Need' paper launched the architecture behind every modern LLM — and triggered an 800%+ surge in GenAI patents.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0" y="132588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63240" y="146304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63240" y="1463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2020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0048" y="199339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GPT-3 Released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70048" y="2578608"/>
            <a:ext cx="1883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OpenAI's 175B-parameter model demonstrated emergent capabilities, accelerating corporate patent filings across the industry.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32588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49240" y="146304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49240" y="1463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2022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56048" y="199339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 Launch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56048" y="2578608"/>
            <a:ext cx="1883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hit 100M users in 2 months — the fastest product adoption in history — triggering a new wave of R&amp;D and IP filings.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0" y="1325880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35240" y="146304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35240" y="1463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2023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42048" y="199339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Year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242048" y="2578608"/>
            <a:ext cx="1883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25% of all GenAI patents ever filed were published in 2023 alone. China led globally; U.S. ranked 2nd.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WIPO GenAI Patent Landscape Report 2024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50976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 (n.d.). Our story. About Google. https://about.google/our-story/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8412480" cy="658368"/>
          </a:xfrm>
          <a:prstGeom prst="roundRect">
            <a:avLst>
              <a:gd name="adj" fmla="val 6944"/>
            </a:avLst>
          </a:prstGeom>
          <a:solidFill>
            <a:srgbClr val="F1F5F9"/>
          </a:solidFill>
          <a:ln/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Page, L., Brin, S., Motwani, R., &amp; Winograd, T. (1999). The PageRank citation ranking: Bringing order to the Web. Stanford InfoLab Technical Report. http://ilpubs.stanford.edu:8090/422/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414016"/>
            <a:ext cx="84124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450592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Stross, R. (2008). Planet Google: One company's audacious plan to organize everything we know. Free Press.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3163824"/>
            <a:ext cx="8412480" cy="658368"/>
          </a:xfrm>
          <a:prstGeom prst="roundRect">
            <a:avLst>
              <a:gd name="adj" fmla="val 6944"/>
            </a:avLst>
          </a:prstGeom>
          <a:solidFill>
            <a:srgbClr val="F1F5F9"/>
          </a:solidFill>
          <a:ln/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Intellectual Property Organization. (2024). Patent landscape report: Generative artificial intelligence (GenAI). WIPO. https://www.wipo.int/web-publications/patent-landscape-report-generative-artificial-intelligence-genai/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913632"/>
            <a:ext cx="84124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950208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Vaswani, A., Shazeer, N., Parmar, N., Uszkoreit, J., Jones, L., Gomez, A. N., Kaiser, Ł., &amp; Polosukhin, I. (2017). Attention is all you need. Advances in Neural Information Processing Systems, 30, 5998–6008.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0" y="4864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A02_JosephClay_TuringCollective_ITAI1370  ·  HCC Summer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571</Words>
  <Application>Microsoft Macintosh PowerPoint</Application>
  <PresentationFormat>On-screen Show (16:9)</PresentationFormat>
  <Paragraphs>49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A02_JosephClay_TuringCollective_ITAI1370</dc:title>
  <dc:subject>PptxGenJS Presentation</dc:subject>
  <dc:creator>Joseph Clay</dc:creator>
  <cp:lastModifiedBy>joseph.clay2-W216935144</cp:lastModifiedBy>
  <cp:revision>1</cp:revision>
  <dcterms:created xsi:type="dcterms:W3CDTF">2026-06-09T16:42:24Z</dcterms:created>
  <dcterms:modified xsi:type="dcterms:W3CDTF">2026-06-09T17:40:00Z</dcterms:modified>
</cp:coreProperties>
</file>