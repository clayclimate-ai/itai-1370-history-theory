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 chose HVAC predictive maintenance because I've worked commercial HVAC in the field (TD Industries, Pappas) and I'm building Clay Climate AI. The network predicts a binary outcome: will this rooftop unit (RTU) fail within 30 days? This is a real problem — an unexpected RTU failure at a restaurant can cost thousands in food loss and emergency labor.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deck: this is supervised learning — we have labeled history. The architecture choice (2 hidden layers, 4 and 3 neurons) is deliberately small so every connection can be shown and explained on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slide label: 'Input Layer'. Assignment asks for shapes representing data types — each circle is an input neuron x1–x4. Talking point: I picked these four features from field experience; every one is on a standard service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requires a tabular dataset with at least 4 rows — we have 5. RTU-04 is deliberately chosen as the tricky case: very old (15 yrs) but freshly serviced (30 days). It will expose a flaw in the network's initial weighting and set up the backpropagation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hidden layer slide filled with circles as neurons, connections shown with arrows/lines. DESIGN DECISION #1 (theory-rooted, required by rubric): activation = ReLU, cited. DESIGN DECISION #2: initial weight pattern — I seeded stronger weights (thicker lines) on age→h1.1 based on domain intuition; the network will later CORRECT this via backprop, which is the whole story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DECISION #3: two hidden layers instead of one — justified by hierarchical representation learning (LeCun et al. 2015). The concept labels (wear &amp; neglect, thermal stress, early warning) are interpretive — in a real trained net these emerge, they're not assigned. Say that out loud in class; it shows you understand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output layer slide with shapes for the network's predictions. Business framing: the output isn't just a label, it's a probability — which is exactly what a service manager needs to prioritize a dispatch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'On your Input Layer slide, highlight the data matching your chosen example.' RTU-04's four values are shown activated with color-coded risk direction. The tension between x1 (old) and x2 (just serviced) is the pedagogical heart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'Modify the line thickness between neurons based on the influence of data.' Thickness map is explicit in the build (W1/W2/WO matrices). The orange-highlighted chain is the strongest weighted path for this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'Highlight what you predict the network would decide, guided by your inputs and the simulated processing.' Verdict: WILL FAIL, 74% — because the initial weights over-trust age. We predicted this from the thickness map. Next slide: reality disagrees.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'Feedback Loop slide with an arrow from the output back to the input, featuring an Error box to denote prediction error.' Error = predicted P(fail) 0.74 vs actual 0 → the dashed red arrows show the backward path through the network to the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'discuss how errors might lead to adjustments in the network's connections for improvement.' DESIGN DECISIONS #4-5 (theory-rooted): every strengthen/weaken choice here is justified by gradient attribution (Rumelhart et al. 1986) and the learning-rate tradeoff (Goodfellow ch. 8). Be ready to explain w ← w − η·∂E/∂w in plain words: each weight moves a small step in the direction that reduces the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1:1 to the assignment's three Discussion Points. Q3 is where you own the room: you have actually stood on the roofs these RTUs sit on, and you're building Clay Climate AI in this exact space. Nobody else in class can say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sources are real and verifiable. The footer discloses the AI-assisted pipeline per course policy — this is also your extra-credit talking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737360"/>
            <a:ext cx="1097280" cy="274320"/>
          </a:xfrm>
          <a:prstGeom prst="line">
            <a:avLst/>
          </a:prstGeom>
          <a:noFill/>
          <a:ln w="38100">
            <a:solidFill>
              <a:srgbClr val="2E3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737360"/>
            <a:ext cx="1097280" cy="109728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737360"/>
            <a:ext cx="1097280" cy="192024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572768"/>
            <a:ext cx="329184" cy="32918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463040" y="2011680"/>
            <a:ext cx="1097280" cy="64008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651760"/>
            <a:ext cx="1097280" cy="18288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651760"/>
            <a:ext cx="1097280" cy="1005840"/>
          </a:xfrm>
          <a:prstGeom prst="line">
            <a:avLst/>
          </a:prstGeom>
          <a:noFill/>
          <a:ln w="38100">
            <a:solidFill>
              <a:srgbClr val="2E3F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487168"/>
            <a:ext cx="329184" cy="32918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63040" y="2011680"/>
            <a:ext cx="1097280" cy="155448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463040" y="2834640"/>
            <a:ext cx="1097280" cy="731520"/>
          </a:xfrm>
          <a:prstGeom prst="line">
            <a:avLst/>
          </a:prstGeom>
          <a:noFill/>
          <a:ln w="38100">
            <a:solidFill>
              <a:srgbClr val="2E3F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3566160"/>
            <a:ext cx="1097280" cy="91440"/>
          </a:xfrm>
          <a:prstGeom prst="line">
            <a:avLst/>
          </a:prstGeom>
          <a:noFill/>
          <a:ln w="12700">
            <a:solidFill>
              <a:srgbClr val="2E3F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401568"/>
            <a:ext cx="329184" cy="32918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011680"/>
            <a:ext cx="822960" cy="822960"/>
          </a:xfrm>
          <a:prstGeom prst="line">
            <a:avLst/>
          </a:prstGeom>
          <a:noFill/>
          <a:ln w="19050">
            <a:solidFill>
              <a:srgbClr val="2E3F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847088"/>
            <a:ext cx="329184" cy="329184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847088"/>
            <a:ext cx="329184" cy="329184"/>
          </a:xfrm>
          <a:prstGeom prst="ellipse">
            <a:avLst/>
          </a:prstGeom>
          <a:ln w="15875">
            <a:solidFill>
              <a:srgbClr val="4FB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834640"/>
            <a:ext cx="822960" cy="0"/>
          </a:xfrm>
          <a:prstGeom prst="line">
            <a:avLst/>
          </a:prstGeom>
          <a:noFill/>
          <a:ln w="44450">
            <a:solidFill>
              <a:srgbClr val="2E3F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2670048"/>
            <a:ext cx="329184" cy="329184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8608" y="2670048"/>
            <a:ext cx="329184" cy="329184"/>
          </a:xfrm>
          <a:prstGeom prst="ellipse">
            <a:avLst/>
          </a:prstGeom>
          <a:ln w="15875">
            <a:solidFill>
              <a:srgbClr val="4FB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926080" y="2834640"/>
            <a:ext cx="822960" cy="822960"/>
          </a:xfrm>
          <a:prstGeom prst="line">
            <a:avLst/>
          </a:prstGeom>
          <a:noFill/>
          <a:ln w="19050">
            <a:solidFill>
              <a:srgbClr val="2E3F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8608" y="3493008"/>
            <a:ext cx="329184" cy="329184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3493008"/>
            <a:ext cx="329184" cy="329184"/>
          </a:xfrm>
          <a:prstGeom prst="ellipse">
            <a:avLst/>
          </a:prstGeom>
          <a:ln w="15875">
            <a:solidFill>
              <a:srgbClr val="4FB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596896"/>
            <a:ext cx="475488" cy="475488"/>
          </a:xfrm>
          <a:prstGeom prst="ellipse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265176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· EXPLORING DEEP LEARNING THROUGH POWERPOINT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16002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HVAC Failures with a Neural Network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4572000" y="2971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feed-forward network that learns whether a rooftop unit will fail within 30 days — and improves when it gets it wrong.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TuringCollective  ·  Joseph Clay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1370 · Prof. Devarakonda · Summer 2026 · Houston Community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and the Network at a Glance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binary classifier: service-history features in, failure prediction 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rooftop units (RTUs) fail without warning. Reactive repair means emergency labor rates, downtime, and lost product. Technicians already collect the data that predicts failure — it just isn't being 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417320"/>
            <a:ext cx="384048" cy="384048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feed-forward neural network trained on past service calls (supervised learning). Each historical record pairs unit features with a known outcome, so the network can learn the pattern.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41732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965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input features → Hidden Layer 1 (4 neurons) → Hidden Layer 2 (3 neurons) → 2 output classes: Will Fail ≤ 30 Days / Will Not Fail.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366760" cy="1051560"/>
          </a:xfrm>
          <a:prstGeom prst="roundRect">
            <a:avLst>
              <a:gd name="adj" fmla="val 5217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840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SUPERVISED LEARNING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learns a function mapping inputs to outputs from labeled examples — historical service calls where the outcome (failed / didn't fail) is already known. Depth (multiple hidden layers) lets it learn non-linear combinations of features that no single rule could capture.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Bengio &amp; Courville (2016), Deep Learning, ch. 5–6 · LeCun, Bengio &amp; Hinton (2015), Nature 521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features the network analyzes — each one a signal a field technician already records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1188720"/>
            <a:ext cx="4663440" cy="786384"/>
          </a:xfrm>
          <a:prstGeom prst="roundRect">
            <a:avLst>
              <a:gd name="adj" fmla="val 6977"/>
            </a:avLst>
          </a:prstGeom>
          <a:solidFill>
            <a:srgbClr val="1A2532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24358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Age (yrs)   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Compressors and heat exchangers degrade with age; bearings and capacitors drift out of spec.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31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2121408"/>
            <a:ext cx="4663440" cy="786384"/>
          </a:xfrm>
          <a:prstGeom prst="roundRect">
            <a:avLst>
              <a:gd name="adj" fmla="val 6977"/>
            </a:avLst>
          </a:prstGeom>
          <a:solidFill>
            <a:srgbClr val="1A2532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17627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Since Last Service   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maintenance is the #1 controllable failure driver — dirty coils and low charge compound.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54864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3054096"/>
            <a:ext cx="4663440" cy="786384"/>
          </a:xfrm>
          <a:prstGeom prst="roundRect">
            <a:avLst>
              <a:gd name="adj" fmla="val 6977"/>
            </a:avLst>
          </a:prstGeom>
          <a:solidFill>
            <a:srgbClr val="1A2532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1089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Ambient Temp (°F)   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heat: sustained high ambient pushes head pressure and duty cycle toward limits.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548640" cy="5486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3986784"/>
            <a:ext cx="4663440" cy="786384"/>
          </a:xfrm>
          <a:prstGeom prst="roundRect">
            <a:avLst>
              <a:gd name="adj" fmla="val 6977"/>
            </a:avLst>
          </a:prstGeom>
          <a:solidFill>
            <a:srgbClr val="1A2532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404164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Codes (last 90 d)   </a:t>
            </a:r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Board-logged faults (high-pressure trips, sensor errors) are early smoke before the fire.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2468880" cy="3639312"/>
          </a:xfrm>
          <a:prstGeom prst="roundRect">
            <a:avLst>
              <a:gd name="adj" fmla="val 2222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280160"/>
            <a:ext cx="21945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FEATURE SELECTION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the network's entire view of the world — it can only learn patterns present in the features it is given.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were chosen for domain relevance (each has a known mechanical failure pathway) and availability (all are captured on routine service calls), following the principle that representation quality bounds model quality.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(2016), ch. 5 — representation &amp; features · LeCun et al. (2015)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— Historical Service-Call Records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labeled examples (illustrative data · patterned on real commercial RTU service history)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Ambient (°F)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Codes (90d)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(label)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RTU-01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RTU-02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RTU-03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RTU-04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RTU-05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D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RTU-04 (highlighted) is the example we will push through the network — an old unit that was just serviced.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023360"/>
            <a:ext cx="8366760" cy="868680"/>
          </a:xfrm>
          <a:prstGeom prst="roundRect">
            <a:avLst>
              <a:gd name="adj" fmla="val 6316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11480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TRAINING DATA &amp; LABELS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training example: a feature vector x = [age, recency, ambient, faults] paired with a ground-truth label y. The network's job is to generalize from these pairs to unseen units — not memorize them.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(2016), ch. 5 · LeCun et al. (2015), Nature 521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1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neurons — each learns a different combination of the raw inputs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2104" y="1380744"/>
            <a:ext cx="438912" cy="438912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80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" y="2203704"/>
            <a:ext cx="438912" cy="438912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2104" y="3026664"/>
            <a:ext cx="438912" cy="438912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" y="3849624"/>
            <a:ext cx="438912" cy="438912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71016" y="1600200"/>
            <a:ext cx="2011680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1016" y="160020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71016" y="1600200"/>
            <a:ext cx="2011680" cy="16459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71016" y="1600200"/>
            <a:ext cx="2011680" cy="246888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271016" y="160020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1016" y="2423160"/>
            <a:ext cx="2011680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71016" y="242316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1016" y="2423160"/>
            <a:ext cx="2011680" cy="16459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271016" y="1600200"/>
            <a:ext cx="2011680" cy="16459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271016" y="242316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3246120"/>
            <a:ext cx="2011680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1016" y="324612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271016" y="1600200"/>
            <a:ext cx="2011680" cy="246888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271016" y="2423160"/>
            <a:ext cx="2011680" cy="16459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271016" y="3246120"/>
            <a:ext cx="2011680" cy="822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71016" y="4069080"/>
            <a:ext cx="2011680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2696" y="136245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82696" y="136245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1362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82696" y="218541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2696" y="218541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82696" y="300837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82696" y="300837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82696" y="383133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82696" y="383133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8892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1188720"/>
            <a:ext cx="4160520" cy="1737360"/>
          </a:xfrm>
          <a:prstGeom prst="roundRect">
            <a:avLst>
              <a:gd name="adj" fmla="val 3158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1280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WEIGHTED SUMS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hidden neuron computes z = Σ(wᵢ·xᵢ) + b — a weighted vote over all inputs, plus a bias. Line thickness here represents |w|: thicker = more influence. Example: h1.1 weights unit age heavily; h1.3 specializes in ambient heat stress.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(2016), ch. 6 — deep feedforward networks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063240"/>
            <a:ext cx="4160520" cy="1737360"/>
          </a:xfrm>
          <a:prstGeom prst="roundRect">
            <a:avLst>
              <a:gd name="adj" fmla="val 3158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315468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ReLU ACTIVATION — a design decision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weighted sum, each neuron applies ReLU: f(z) = max(0, z). Chosen over sigmoid because ReLU avoids saturating gradients on positive inputs, keeping error signals strong during training in deeper stacks — critical for the learning step on slides 11–12.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 &amp; Hinton (2010), ICML · Glorot, Bordes &amp; Bengio (2011)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2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neurons — combining first-layer patterns into higher-level 'risk concepts'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9384" y="1380744"/>
            <a:ext cx="438912" cy="438912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9384" y="1380744"/>
            <a:ext cx="438912" cy="438912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9384" y="1380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9384" y="2203704"/>
            <a:ext cx="438912" cy="438912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9384" y="2203704"/>
            <a:ext cx="438912" cy="438912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9384" y="3026664"/>
            <a:ext cx="438912" cy="438912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9384" y="3026664"/>
            <a:ext cx="438912" cy="438912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9384" y="3849624"/>
            <a:ext cx="438912" cy="438912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9384" y="3849624"/>
            <a:ext cx="438912" cy="438912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9384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h1.4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68296" y="1600200"/>
            <a:ext cx="1920240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68296" y="1600200"/>
            <a:ext cx="1920240" cy="12344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8296" y="1600200"/>
            <a:ext cx="1920240" cy="205740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68296" y="2011680"/>
            <a:ext cx="1920240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68296" y="2423160"/>
            <a:ext cx="1920240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68296" y="2423160"/>
            <a:ext cx="1920240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368296" y="2011680"/>
            <a:ext cx="1920240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368296" y="2834640"/>
            <a:ext cx="1920240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8296" y="3246120"/>
            <a:ext cx="1920240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368296" y="2011680"/>
            <a:ext cx="1920240" cy="205740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368296" y="2834640"/>
            <a:ext cx="1920240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368296" y="3657600"/>
            <a:ext cx="1920240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88536" y="177393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88536" y="177393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8536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1737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88536" y="259689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88536" y="259689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88536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2560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88536" y="341985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88536" y="341985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88536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383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41732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9476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1188720"/>
            <a:ext cx="3063240" cy="3291840"/>
          </a:xfrm>
          <a:prstGeom prst="roundRect">
            <a:avLst>
              <a:gd name="adj" fmla="val 1791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97880" y="1280160"/>
            <a:ext cx="2788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HIERARCHICAL REPRESENTATION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the point of deep learning: layer 1 detects simple feature combinations; layer 2 composes them into abstract concepts. Interpreting h2.1 as 'wear &amp; neglect,' h2.2 as 'thermal stress,' and h2.3 as 'early warning signals' illustrates how networks build increasingly abstract representations layer by layer — the reason a 2-layer net can capture interactions (old AND neglected) that a single linear model cannot.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LeCun, Bengio &amp; Hinton (2015), Nature 521, 436–444 · Goodfellow et al. (2016), ch.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 classes — the network's verdict on the unit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73936" y="177393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3936" y="177393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73936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73936" y="259689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73936" y="259689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73936" y="3419856"/>
            <a:ext cx="475488" cy="47548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3419856"/>
            <a:ext cx="475488" cy="475488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9424" y="2011680"/>
            <a:ext cx="1728216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2011680"/>
            <a:ext cx="1728216" cy="12344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249424" y="2423160"/>
            <a:ext cx="1728216" cy="41148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9424" y="2834640"/>
            <a:ext cx="1728216" cy="41148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249424" y="2423160"/>
            <a:ext cx="1728216" cy="12344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249424" y="3246120"/>
            <a:ext cx="1728216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039112"/>
            <a:ext cx="2377440" cy="768096"/>
          </a:xfrm>
          <a:prstGeom prst="roundRect">
            <a:avLst>
              <a:gd name="adj" fmla="val 11905"/>
            </a:avLst>
          </a:prstGeom>
          <a:solidFill>
            <a:srgbClr val="1A2532"/>
          </a:solidFill>
          <a:ln w="25400">
            <a:solidFill>
              <a:srgbClr val="FF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03911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FAIL ≤ 30 DAYS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23360" y="2862072"/>
            <a:ext cx="2377440" cy="768096"/>
          </a:xfrm>
          <a:prstGeom prst="roundRect">
            <a:avLst>
              <a:gd name="adj" fmla="val 11905"/>
            </a:avLst>
          </a:prstGeom>
          <a:solidFill>
            <a:srgbClr val="1A2532"/>
          </a:solidFill>
          <a:ln w="25400">
            <a:solidFill>
              <a:srgbClr val="3DD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8620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FAIL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188720"/>
            <a:ext cx="2194560" cy="3291840"/>
          </a:xfrm>
          <a:prstGeom prst="roundRect">
            <a:avLst>
              <a:gd name="adj" fmla="val 2500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280160"/>
            <a:ext cx="1920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OUTPUT &amp; CONFIDENCE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output scores are converted to probabilities (softmax), e.g. [0.78, 0.22] = 78% confidence in failure.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 decision then becomes a threshold call: schedule preventive service when P(fail) crosses a level the business chooses — trading false alarms against missed failures.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(2016), ch. 6.2 — output units &amp; softmax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the Input Layer — Feeding RTU-04 In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the data that matches our chosen example from the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1A2532"/>
          </a:solidFill>
          <a:ln w="1905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93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  Unit 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2893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886200" y="128930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pushes toward failure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1A2532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8541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 Days Since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1854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886200" y="21854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freshly maintained, protective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1A2532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815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  Avg Ambient Temp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30815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°F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886200" y="308152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— Houston summer load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1A2532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  Fault Codes (90d)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977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886200" y="3977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minor signal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2514600" cy="3566160"/>
          </a:xfrm>
          <a:prstGeom prst="roundRect">
            <a:avLst>
              <a:gd name="adj" fmla="val 2182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325880"/>
            <a:ext cx="2240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INPUT ENCODING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 values are normalized before entering the network (e.g., scaled 0–1) so no feature dominates purely by its unit of measure.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tension in this example: age screams risk while service recency says safe. What the network decides reveals which connections it currently trusts — and sets up the learning moment.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(2016), ch. 8.7.1 — input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Through the Layers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 = connection weight |w| — watch where RTU-04's signal flows strongest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463040"/>
            <a:ext cx="1627632" cy="0"/>
          </a:xfrm>
          <a:prstGeom prst="line">
            <a:avLst/>
          </a:prstGeom>
          <a:noFill/>
          <a:ln w="4445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24028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01752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79476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81528" y="1463040"/>
            <a:ext cx="1609344" cy="365760"/>
          </a:xfrm>
          <a:prstGeom prst="line">
            <a:avLst/>
          </a:prstGeom>
          <a:noFill/>
          <a:ln w="4445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1528" y="1463040"/>
            <a:ext cx="1609344" cy="11887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81528" y="1463040"/>
            <a:ext cx="1609344" cy="20116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81528" y="1828800"/>
            <a:ext cx="1609344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81528" y="2240280"/>
            <a:ext cx="1609344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1528" y="2240280"/>
            <a:ext cx="1609344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081528" y="1828800"/>
            <a:ext cx="1609344" cy="1188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081528" y="2651760"/>
            <a:ext cx="1609344" cy="3657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1528" y="3017520"/>
            <a:ext cx="1609344" cy="45720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081528" y="1828800"/>
            <a:ext cx="1609344" cy="1965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81528" y="2651760"/>
            <a:ext cx="1609344" cy="11430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081528" y="3474720"/>
            <a:ext cx="1609344" cy="3200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3208" y="1828800"/>
            <a:ext cx="1536192" cy="365760"/>
          </a:xfrm>
          <a:prstGeom prst="line">
            <a:avLst/>
          </a:prstGeom>
          <a:noFill/>
          <a:ln w="4445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3208" y="182880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093208" y="21945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26517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093208" y="219456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093208" y="3108960"/>
            <a:ext cx="1536192" cy="36576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128016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0574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" y="283464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" y="28346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6118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19202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FAIL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675120" y="28346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FAIL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41879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468880" y="4187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480560" y="4187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58000" y="4187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443984"/>
            <a:ext cx="8366760" cy="658368"/>
          </a:xfrm>
          <a:prstGeom prst="roundRect">
            <a:avLst>
              <a:gd name="adj" fmla="val 8333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94360" y="4535424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FORWARD PROPAGATION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computes ReLU(W·a + b) on the previous layer's output. Orange = the dominant route for this input: age(15) → h1.1 → h2.1 → WILL FAIL, since age carries the largest weights.  ·  Goodfellow et al. (2016), ch. 6.5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Network's Prediction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the output scores — the age-heavy weighting drives the verdict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463040"/>
            <a:ext cx="1627632" cy="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24028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01752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79476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81528" y="1463040"/>
            <a:ext cx="1609344" cy="36576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1528" y="1463040"/>
            <a:ext cx="1609344" cy="11887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81528" y="1463040"/>
            <a:ext cx="1609344" cy="20116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81528" y="1828800"/>
            <a:ext cx="1609344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81528" y="2240280"/>
            <a:ext cx="1609344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1528" y="2240280"/>
            <a:ext cx="1609344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081528" y="1828800"/>
            <a:ext cx="1609344" cy="1188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081528" y="2651760"/>
            <a:ext cx="1609344" cy="3657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1528" y="3017520"/>
            <a:ext cx="1609344" cy="45720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081528" y="1828800"/>
            <a:ext cx="1609344" cy="1965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81528" y="2651760"/>
            <a:ext cx="1609344" cy="11430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081528" y="3474720"/>
            <a:ext cx="1609344" cy="3200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3208" y="1828800"/>
            <a:ext cx="1536192" cy="36576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3208" y="182880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093208" y="21945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26517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093208" y="219456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093208" y="3108960"/>
            <a:ext cx="1536192" cy="36576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128016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0574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" y="283464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" y="28346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6118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19202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31750">
            <a:solidFill>
              <a:srgbClr val="FF5C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  WILL FAIL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675120" y="28346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  WILL NOT FAIL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572000"/>
            <a:ext cx="8366760" cy="502920"/>
          </a:xfrm>
          <a:prstGeom prst="roundRect">
            <a:avLst>
              <a:gd name="adj" fmla="val 10909"/>
            </a:avLst>
          </a:prstGeom>
          <a:solidFill>
            <a:srgbClr val="1A2532"/>
          </a:solidFill>
          <a:ln w="19050">
            <a:solidFill>
              <a:srgbClr val="FF5C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572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  </a:t>
            </a:r>
            <a:pPr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FAIL WITHIN 30 DAYS (74%)</a:t>
            </a:r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driven almost entirely by Unit Age = 15 through the h1.1 → h2.1 'wear &amp; neglect' path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— Reality Checks the Network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RTU-04 did NOT fail. The prediction was wrong — and that error is the fuel for learning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463040"/>
            <a:ext cx="1627632" cy="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1560" y="146304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24028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51560" y="146304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1560" y="224028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01752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51560" y="1463040"/>
            <a:ext cx="1627632" cy="2331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51560" y="2240280"/>
            <a:ext cx="1627632" cy="1554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51560" y="3017520"/>
            <a:ext cx="1627632" cy="7772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794760"/>
            <a:ext cx="1627632" cy="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81528" y="1463040"/>
            <a:ext cx="1609344" cy="36576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1528" y="1463040"/>
            <a:ext cx="1609344" cy="118872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81528" y="1463040"/>
            <a:ext cx="1609344" cy="20116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81528" y="1828800"/>
            <a:ext cx="1609344" cy="41148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81528" y="2240280"/>
            <a:ext cx="1609344" cy="41148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1528" y="2240280"/>
            <a:ext cx="1609344" cy="123444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081528" y="1828800"/>
            <a:ext cx="1609344" cy="118872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081528" y="2651760"/>
            <a:ext cx="1609344" cy="3657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1528" y="3017520"/>
            <a:ext cx="1609344" cy="45720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081528" y="1828800"/>
            <a:ext cx="1609344" cy="19659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81528" y="2651760"/>
            <a:ext cx="1609344" cy="11430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081528" y="3474720"/>
            <a:ext cx="1609344" cy="32004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3208" y="1828800"/>
            <a:ext cx="1536192" cy="365760"/>
          </a:xfrm>
          <a:prstGeom prst="line">
            <a:avLst/>
          </a:prstGeom>
          <a:noFill/>
          <a:ln w="44450">
            <a:solidFill>
              <a:srgbClr val="3A4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3208" y="182880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093208" y="21945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2651760"/>
            <a:ext cx="1536192" cy="457200"/>
          </a:xfrm>
          <a:prstGeom prst="line">
            <a:avLst/>
          </a:prstGeom>
          <a:noFill/>
          <a:ln w="25400">
            <a:solidFill>
              <a:srgbClr val="3A4A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093208" y="2194560"/>
            <a:ext cx="1536192" cy="128016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093208" y="3108960"/>
            <a:ext cx="1536192" cy="365760"/>
          </a:xfrm>
          <a:prstGeom prst="line">
            <a:avLst/>
          </a:prstGeom>
          <a:noFill/>
          <a:ln w="38100">
            <a:solidFill>
              <a:srgbClr val="3A4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128016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0574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" y="283464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" y="28346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6118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88336" y="127101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88336" y="204825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88336" y="28254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88336" y="3602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163677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0016" y="245973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solidFill>
            <a:srgbClr val="223041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0016" y="3282696"/>
            <a:ext cx="384048" cy="38404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19202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31750">
            <a:solidFill>
              <a:srgbClr val="FF5C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  WILL FAIL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675120" y="2834640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1A253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  WILL NOT FAIL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794760" y="457200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FF5C5C"/>
          </a:solidFill>
          <a:ln/>
        </p:spPr>
      </p:sp>
      <p:sp>
        <p:nvSpPr>
          <p:cNvPr id="65" name="Text 63"/>
          <p:cNvSpPr/>
          <p:nvPr/>
        </p:nvSpPr>
        <p:spPr>
          <a:xfrm>
            <a:off x="3794760" y="4572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= 0.74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 flipV="1">
            <a:off x="5349240" y="3401568"/>
            <a:ext cx="2103120" cy="1408176"/>
          </a:xfrm>
          <a:prstGeom prst="line">
            <a:avLst/>
          </a:prstGeom>
          <a:noFill/>
          <a:ln w="25400">
            <a:solidFill>
              <a:srgbClr val="FF5C5C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868680" y="3995928"/>
            <a:ext cx="2926080" cy="813816"/>
          </a:xfrm>
          <a:prstGeom prst="line">
            <a:avLst/>
          </a:prstGeom>
          <a:noFill/>
          <a:ln w="25400">
            <a:solidFill>
              <a:srgbClr val="FF5C5C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653796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DID NOT FAIL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2920" y="47365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propagates backward — every weight learns its share of the blame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the Error — Backprop Adjusts Weights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theory says the connections should change after the RTU-04 miss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1A253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25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→ h1.1  (was the loudest voice)  ·  </a:t>
            </a:r>
            <a:pPr indent="0" marL="0">
              <a:buNone/>
            </a:pPr>
            <a:r>
              <a:rPr lang="en-US" sz="12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WEAKENED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assigns this connection the largest share of blame: it drove a confident wrong answer. Its weight shrinks proportionally.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03704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1A253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2951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27685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Days-Since-Service → h1.2  ·  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service was the true protective signal the network under-weighted. Its gradient pushes the weight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1A253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2644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32461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h2.1 'Wear &amp; Neglect' → WILL FAIL  ·  </a:t>
            </a:r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neuron stays useful, but its vote toward failure is tempered so age alone can no longer dominate.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2514600" cy="2880360"/>
          </a:xfrm>
          <a:prstGeom prst="roundRect">
            <a:avLst>
              <a:gd name="adj" fmla="val 2182"/>
            </a:avLst>
          </a:prstGeom>
          <a:solidFill>
            <a:srgbClr val="1A253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32588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 ·  BACKPROP + GRADIENT DESCENT</a:t>
            </a: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uses the chain rule to compute ∂Error/∂w for every weight — how much each connection contributed to the miss. Gradient descent then updates each: w ← w − η·∂E/∂w.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η controls step size: too large overshoots, too small crawls. One example nudges weights; over many examples, the pattern converges.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Rumelhart, Hinton &amp; Williams (1986), Nature 323 · Goodfellow et al. (2016), ch. 6.5, 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8366760" cy="777240"/>
          </a:xfrm>
          <a:prstGeom prst="roundRect">
            <a:avLst>
              <a:gd name="adj" fmla="val 7059"/>
            </a:avLst>
          </a:prstGeom>
          <a:solidFill>
            <a:srgbClr val="2230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15968"/>
            <a:ext cx="8046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LEARNING:  </a:t>
            </a:r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RTU-04 now yields P(fail) ≈ 0.41 → prediction flips to WILL NOT FAIL. The network learned that a freshly-serviced old unit ≠ a neglected old unit — an interaction no single weight could express before.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Points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questions the assignment asks — answered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1188720"/>
            <a:ext cx="7772400" cy="1143000"/>
          </a:xfrm>
          <a:prstGeom prst="roundRect">
            <a:avLst>
              <a:gd name="adj" fmla="val 4800"/>
            </a:avLst>
          </a:prstGeom>
          <a:solidFill>
            <a:srgbClr val="1A2532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261872"/>
            <a:ext cx="7406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theory set the connection strengths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weights encoded domain priors (age matters), then deep learning theory took over: weighted sums (Goodfellow ch. 6) defined influence, ReLU (Nair &amp; Hinton 2010) kept gradients alive, and every strengthen/weaken decision after the miss followed gradient attribution — not intuition.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4FB3B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468880"/>
            <a:ext cx="7772400" cy="1143000"/>
          </a:xfrm>
          <a:prstGeom prst="roundRect">
            <a:avLst>
              <a:gd name="adj" fmla="val 4800"/>
            </a:avLst>
          </a:prstGeom>
          <a:solidFill>
            <a:srgbClr val="1A253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542032"/>
            <a:ext cx="7406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error taught us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0.74-confident miss revealed over-reliance on one feature. Backpropagation (Rumelhart et al. 1986) converted that single error into targeted, proportional weight updates. Theoretical guides for further accuracy: tune learning rate η, train on more labeled service calls, and hold out a validation set to detect overfitting.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3749040"/>
            <a:ext cx="7772400" cy="1143000"/>
          </a:xfrm>
          <a:prstGeom prst="roundRect">
            <a:avLst>
              <a:gd name="adj" fmla="val 4800"/>
            </a:avLst>
          </a:prstGeom>
          <a:solidFill>
            <a:srgbClr val="1A253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822192"/>
            <a:ext cx="7406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of this exact pattern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on commercial RTUs and chillers · cleanroom environmental-monitoring anomaly detection (pharma/biotech HVAC) · smart-building BAS optimization · dispatch prioritization from live fault-code telemetry — the same architecture, larger datasets.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cited throughout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366760" cy="603504"/>
          </a:xfrm>
          <a:prstGeom prst="roundRect">
            <a:avLst>
              <a:gd name="adj" fmla="val 7576"/>
            </a:avLst>
          </a:prstGeom>
          <a:solidFill>
            <a:srgbClr val="1A25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 https://www.deeplearningbook.org  — feedforward networks (ch. 6), training &amp; learning rate (ch. 8), supervised learning (ch. 5).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8366760" cy="603504"/>
          </a:xfrm>
          <a:prstGeom prst="roundRect">
            <a:avLst>
              <a:gd name="adj" fmla="val 7576"/>
            </a:avLst>
          </a:prstGeom>
          <a:solidFill>
            <a:srgbClr val="1A25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01952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Rumelhart, D. E., Hinton, G. E., &amp; Williams, R. J. (1986). Learning representations by back-propagating errors. Nature, 323, 533–536.  — the backpropagation algorithm.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8366760" cy="603504"/>
          </a:xfrm>
          <a:prstGeom prst="roundRect">
            <a:avLst>
              <a:gd name="adj" fmla="val 7576"/>
            </a:avLst>
          </a:prstGeom>
          <a:solidFill>
            <a:srgbClr val="1A25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15184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LeCun, Y., Bengio, Y., &amp; Hinton, G. (2015). Deep learning. Nature, 521, 436–444.  — hierarchical representation learning across layers.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8366760" cy="603504"/>
          </a:xfrm>
          <a:prstGeom prst="roundRect">
            <a:avLst>
              <a:gd name="adj" fmla="val 7576"/>
            </a:avLst>
          </a:prstGeom>
          <a:solidFill>
            <a:srgbClr val="1A25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28416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Nair, V., &amp; Hinton, G. E. (2010). Rectified linear units improve restricted Boltzmann machines. Proceedings of ICML-10.  — ReLU activation choice.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8366760" cy="603504"/>
          </a:xfrm>
          <a:prstGeom prst="roundRect">
            <a:avLst>
              <a:gd name="adj" fmla="val 7576"/>
            </a:avLst>
          </a:prstGeom>
          <a:solidFill>
            <a:srgbClr val="1A25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41648"/>
            <a:ext cx="8001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Glorot, X., Bordes, A., &amp; Bengio, Y. (2011). Deep sparse rectifier neural networks. Proceedings of AISTATS.  — rectifier activations in deep stacks.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illustrative service-call records patterned on commercial RTU field experience (TuringCollective). Deck built with an AI-assisted pipeline (documented in CLAUDE.md) per course AI policy.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A07 — Deep Learning Through PowerPoint: HVAC Failure Predictor</dc:title>
  <dc:subject>PptxGenJS Presentation</dc:subject>
  <dc:creator>Joseph Clay — TuringCollective</dc:creator>
  <cp:lastModifiedBy>Joseph Clay — TuringCollective</cp:lastModifiedBy>
  <cp:revision>1</cp:revision>
  <dcterms:created xsi:type="dcterms:W3CDTF">2026-07-02T03:43:51Z</dcterms:created>
  <dcterms:modified xsi:type="dcterms:W3CDTF">2026-07-02T03:43:51Z</dcterms:modified>
</cp:coreProperties>
</file>